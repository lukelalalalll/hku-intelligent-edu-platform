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8" y="1783080"/>
            <a:ext cx="487667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80ED"/>
                </a:solidFill>
                <a:latin typeface="Arial"/>
              </a:rPr>
              <a:t>港大概览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1510" y="2393468"/>
            <a:ext cx="731501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0">
                <a:solidFill>
                  <a:srgbClr val="17324D"/>
                </a:solidFill>
                <a:latin typeface="Arial"/>
              </a:rPr>
              <a:t>香港大学简介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86581"/>
                </a:solidFill>
                <a:latin typeface="Arial"/>
              </a:rPr>
              <a:t>成立于1911年，香港历史最悠久的高等学府</a:t>
            </a:r>
          </a:p>
          <a:p>
            <a:pPr algn="l"/>
            <a:r>
              <a:rPr sz="1400" b="0">
                <a:solidFill>
                  <a:srgbClr val="486581"/>
                </a:solidFill>
                <a:latin typeface="Arial"/>
              </a:rPr>
              <a:t>位于香港岛薄扶林，占地约50公顷</a:t>
            </a:r>
          </a:p>
          <a:p>
            <a:pPr algn="l"/>
            <a:r>
              <a:rPr sz="1400" b="0">
                <a:solidFill>
                  <a:srgbClr val="486581"/>
                </a:solidFill>
                <a:latin typeface="Arial"/>
              </a:rPr>
              <a:t>以英语为教学语言，国际化程度高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9169" y="2400300"/>
            <a:ext cx="9753356" cy="308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5510" y="1866708"/>
            <a:ext cx="9753356" cy="685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169" y="1028700"/>
            <a:ext cx="975335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>
                <a:solidFill>
                  <a:srgbClr val="17324D"/>
                </a:solidFill>
                <a:latin typeface="Arial"/>
              </a:rPr>
              <a:t>核心使命与愿景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2743200"/>
            <a:ext cx="8534186" cy="2400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486581"/>
                </a:solidFill>
                <a:latin typeface="Arial"/>
              </a:rPr>
              <a:t>致力于卓越研究与教育</a:t>
            </a:r>
          </a:p>
          <a:p>
            <a:pPr algn="l"/>
            <a:r>
              <a:rPr sz="2400" b="0">
                <a:solidFill>
                  <a:srgbClr val="486581"/>
                </a:solidFill>
                <a:latin typeface="Arial"/>
              </a:rPr>
              <a:t>培养具有国际视野的领导者</a:t>
            </a:r>
          </a:p>
          <a:p>
            <a:pPr algn="l"/>
            <a:r>
              <a:rPr sz="2400" b="0">
                <a:solidFill>
                  <a:srgbClr val="486581"/>
                </a:solidFill>
                <a:latin typeface="Arial"/>
              </a:rPr>
              <a:t>推动社会进步与可持续发展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169" y="2468880"/>
            <a:ext cx="97533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2F80ED"/>
                </a:solidFill>
                <a:latin typeface="Arial"/>
              </a:rPr>
              <a:t>历史与传承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3291840"/>
            <a:ext cx="9753356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0">
                <a:solidFill>
                  <a:srgbClr val="17324D"/>
                </a:solidFill>
                <a:latin typeface="Arial"/>
              </a:rPr>
              <a:t>历史里程碑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42900"/>
            <a:ext cx="1097252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7324D"/>
                </a:solidFill>
                <a:latin typeface="Arial"/>
              </a:rPr>
              <a:t>校园建筑与文化↘↘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028700"/>
            <a:ext cx="109725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2F80ED"/>
                </a:solidFill>
                <a:latin typeface="Arial"/>
              </a:rPr>
              <a:t>历史与传承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169" y="1714500"/>
            <a:ext cx="9753356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03" y="2057400"/>
            <a:ext cx="9265688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486581"/>
                </a:solidFill>
                <a:latin typeface="Arial"/>
              </a:rPr>
              <a:t>本部大楼为法定古迹，融合中西建筑风格</a:t>
            </a:r>
          </a:p>
          <a:p>
            <a:pPr algn="l"/>
            <a:r>
              <a:rPr sz="1800" b="0">
                <a:solidFill>
                  <a:srgbClr val="486581"/>
                </a:solidFill>
                <a:latin typeface="Arial"/>
              </a:rPr>
              <a:t>大学堂及多处历史建筑见证百年沧桑</a:t>
            </a:r>
          </a:p>
          <a:p>
            <a:pPr algn="l"/>
            <a:r>
              <a:rPr sz="1800" b="0">
                <a:solidFill>
                  <a:srgbClr val="486581"/>
                </a:solidFill>
                <a:latin typeface="Arial"/>
              </a:rPr>
              <a:t>传统与现代并存，传承文化底蕴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" y="1714500"/>
            <a:ext cx="121916" cy="3429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169" y="1371600"/>
            <a:ext cx="975335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2F80ED"/>
                </a:solidFill>
                <a:latin typeface="Arial"/>
              </a:rPr>
              <a:t>学术实力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2400300"/>
            <a:ext cx="9753356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0">
                <a:solidFill>
                  <a:srgbClr val="17324D"/>
                </a:solidFill>
                <a:latin typeface="Arial"/>
              </a:rPr>
              <a:t>学科体系与排名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4457700"/>
            <a:ext cx="9753356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486581"/>
                </a:solidFill>
                <a:latin typeface="Arial"/>
              </a:rPr>
              <a:t>涵盖理、工、医、文、法、商等十大学院</a:t>
            </a:r>
          </a:p>
          <a:p>
            <a:pPr algn="l"/>
            <a:r>
              <a:rPr sz="1800" b="0">
                <a:solidFill>
                  <a:srgbClr val="486581"/>
                </a:solidFill>
                <a:latin typeface="Arial"/>
              </a:rPr>
              <a:t>QS世界大学排名常年位居前30</a:t>
            </a:r>
          </a:p>
          <a:p>
            <a:pPr algn="l"/>
            <a:r>
              <a:rPr sz="1800" b="0">
                <a:solidFill>
                  <a:srgbClr val="486581"/>
                </a:solidFill>
                <a:latin typeface="Arial"/>
              </a:rPr>
              <a:t>多项学科位列全球前20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>
                <a:solidFill>
                  <a:srgbClr val="17324D"/>
                </a:solidFill>
                <a:latin typeface="Arial"/>
              </a:rPr>
              <a:t>研究成就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9659" y="1700838"/>
            <a:ext cx="9753356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486581"/>
                </a:solidFill>
                <a:latin typeface="Arial"/>
              </a:rPr>
              <a:t>拥有多个国家级重点实验室</a:t>
            </a:r>
          </a:p>
          <a:p>
            <a:pPr algn="l"/>
            <a:r>
              <a:rPr sz="2400" b="0">
                <a:solidFill>
                  <a:srgbClr val="486581"/>
                </a:solidFill>
                <a:latin typeface="Arial"/>
              </a:rPr>
              <a:t>研究产出与引用率居亚洲前列</a:t>
            </a:r>
          </a:p>
          <a:p>
            <a:pPr algn="l"/>
            <a:r>
              <a:rPr sz="2400" b="0">
                <a:solidFill>
                  <a:srgbClr val="486581"/>
                </a:solidFill>
                <a:latin typeface="Arial"/>
              </a:rPr>
              <a:t>在医学、工程、社会科学等领域贡献卓著↘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714500"/>
            <a:ext cx="1219169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F80ED"/>
                </a:solidFill>
                <a:latin typeface="Arial"/>
              </a:rPr>
              <a:t>校园生活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17324D"/>
                </a:solidFill>
                <a:latin typeface="Arial"/>
              </a:rPr>
              <a:t>学生社团与活动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3086100"/>
            <a:ext cx="2438339" cy="3429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169" y="3429000"/>
            <a:ext cx="9753356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486581"/>
                </a:solidFill>
                <a:latin typeface="Arial"/>
              </a:rPr>
              <a:t>超过200个学生社团，涵盖兴趣与学术</a:t>
            </a:r>
          </a:p>
          <a:p>
            <a:pPr algn="ctr"/>
            <a:r>
              <a:rPr sz="800" b="0">
                <a:solidFill>
                  <a:srgbClr val="486581"/>
                </a:solidFill>
                <a:latin typeface="Arial"/>
              </a:rPr>
              <a:t>每年举办国际文化节、艺术节等大型活动</a:t>
            </a:r>
          </a:p>
          <a:p>
            <a:pPr algn="ctr"/>
            <a:r>
              <a:rPr sz="800" b="0">
                <a:solidFill>
                  <a:srgbClr val="486581"/>
                </a:solidFill>
                <a:latin typeface="Arial"/>
              </a:rPr>
              <a:t>注重全人发展，培养领导力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5335" y="2606040"/>
            <a:ext cx="10241023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86" y="610111"/>
            <a:ext cx="975335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>
                <a:solidFill>
                  <a:srgbClr val="17324D"/>
                </a:solidFill>
                <a:latin typeface="Arial"/>
              </a:rPr>
              <a:t>校园设施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1920240"/>
            <a:ext cx="975335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80ED"/>
                </a:solidFill>
                <a:latin typeface="Arial"/>
              </a:rPr>
              <a:t>校园生活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96490"/>
            <a:ext cx="1219169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2F80ED"/>
                </a:solidFill>
                <a:latin typeface="Arial"/>
              </a:rPr>
              <a:t>国际视野↘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45127"/>
            <a:ext cx="1219169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0">
                <a:solidFill>
                  <a:srgbClr val="17324D"/>
                </a:solidFill>
                <a:latin typeface="Arial"/>
              </a:rPr>
              <a:t>国际合作与交换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678" y="3429000"/>
            <a:ext cx="2438339" cy="685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91930" y="4954920"/>
            <a:ext cx="7315017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486581"/>
                </a:solidFill>
                <a:latin typeface="Arial"/>
              </a:rPr>
              <a:t>与全球40余国250多所大学合作</a:t>
            </a:r>
          </a:p>
          <a:p>
            <a:pPr algn="l"/>
            <a:r>
              <a:rPr sz="1800" b="0">
                <a:solidFill>
                  <a:srgbClr val="486581"/>
                </a:solidFill>
                <a:latin typeface="Arial"/>
              </a:rPr>
              <a:t>提供丰富的交换生与联合培养项目</a:t>
            </a:r>
          </a:p>
          <a:p>
            <a:pPr algn="l"/>
            <a:r>
              <a:rPr sz="1800" b="0">
                <a:solidFill>
                  <a:srgbClr val="486581"/>
                </a:solidFill>
                <a:latin typeface="Arial"/>
              </a:rPr>
              <a:t>接待来自世界各地的留学dssdfdsdfdsdfdssdfdsdfds的价格jsdjfndjsndjfd↘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342900"/>
            <a:ext cx="365750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C94C"/>
                </a:solidFill>
                <a:latin typeface="Arial"/>
              </a:rPr>
              <a:t>国际视野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028700"/>
            <a:ext cx="9753356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0">
                <a:solidFill>
                  <a:srgbClr val="17324D"/>
                </a:solidFill>
                <a:latin typeface="Arial"/>
              </a:rPr>
              <a:t>校友网络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169" y="2743200"/>
            <a:ext cx="975335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38339" y="3429000"/>
            <a:ext cx="7315017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486581"/>
                </a:solidFill>
                <a:latin typeface="Arial"/>
              </a:rPr>
              <a:t>校友遍布全球，包括政商学界精英</a:t>
            </a:r>
          </a:p>
          <a:p>
            <a:pPr algn="l"/>
            <a:r>
              <a:rPr sz="2000" b="0">
                <a:solidFill>
                  <a:srgbClr val="486581"/>
                </a:solidFill>
                <a:latin typeface="Arial"/>
              </a:rPr>
              <a:t>建立紧密的校友联系与互助网络</a:t>
            </a:r>
          </a:p>
          <a:p>
            <a:pPr algn="l"/>
            <a:r>
              <a:rPr sz="2000" b="0">
                <a:solidFill>
                  <a:srgbClr val="486581"/>
                </a:solidFill>
                <a:latin typeface="Arial"/>
              </a:rPr>
              <a:t>为在校生提供实习与就业机会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