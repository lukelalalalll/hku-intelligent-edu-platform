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这一页作为多智能体系统的开篇导论，需要帮助听众建立对基本概念的直观认识。首先，强调“自主性”意味着智能体能够独立决策，而不是中央控制系统的一部分；其次，通过对比单智能体系统，指出现实任务往往具有地域分散、信息局部化等特性，因此需要多智能体协作。请注意，智能体之间并不是简单的主从关系，而是松散耦合的，它们通过局部规则和交互产生复杂的全局模式，这种行为称为“涌现”。在接下来的内容中，我们将会深入探讨这些特性的理论基础与实际应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欢迎大家来到多智能体系统导论。今天我们从最根本的问题出发：为什么我们需要多智能体系统？想象一下，如果你要管理一个城市的交通，或者协调一个电网的能源分配，仅仅依靠一个超级智能体去集中处理，不仅计算负担巨大，而且对单点故障极其敏感。现实中的这些问题本质上就是分布式的、动态变化的。单个智能体能力有限，它无法同时感知全局，也无法在局部故障时快速调整。而多智能体系统，就像人类社会一样，让每个智能体负责一部分任务，通过通信和协商达成整体目标。这样不仅分担了压力，还让系统在某个成员失效时依然能运行，这就是鲁棒性。而且，多智能体系统特别适合模拟那些由个体交互涌现出的复杂现象，比如交通流中每辆车的决策，或者经济市场中交易者的行为。从机器人协作到智能电网，再到社会模拟，它的应用无处不在。让我们接下来看看，到底什么是多智能体系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聚焦智能体与环境的关系。最简单的反应式智能体就像膝跳反射，直接由当前刺激触发动作，没有记忆和推理，所以反应快但无法解决依赖历史的任务。慎思式智能体则像棋手，先在脑中构建棋局模型，推演若干步再落子，能应对复杂问题，不过计算代价高，在环境建模不准确时容易出错。实际系统往往需要两者结合，比如自动驾驶汽车既要即时避障，又要规划长途路线，这就是混合式思路。看到环境特性：如果环境部分可观测，智能体必须仰望猜测隐藏状态，像POMDP这样的概率工具就派上用场；如果环境变化快，智能体的规划周期就得尽量缩短。接下来我们谈建模，智能体会把所见所闻变成内在的模型，再用这个模型去算哪个动作最好。这个从感知到行动的周而复始就是感知-行动循环，通俗说就是：看一眼（感知）→想一下（建模决策）→动一下（执行），再重复。决策树则像把所有可能路径都画出来，比较后选最优，但真实场景往往太大，需要剪枝和启发式。希望大家记住这页的四个核心概念，它们构成多智能体系统设计的地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之前，请明确本页的定位：多Agent系统之所以能协同，底层依赖的是结构清晰、语义一致的通信。首先，我们以白板画三种通信拓扑：点对点（两个节点连线）、广播（一个节点发出多条线）、黑板（中央黑板格）。点对点最直接但维护成本高，广播利于发现服务时使用但易产生广播风暴，黑板系统像‘共享公告栏’，解耦了发送和接收的时间与空间关系。</a:t>
            </a:r>
          </a:p>
          <a:p/>
          <a:p>
            <a:r>
              <a:t>接下来，Agent之间不仅要传输数据，还要传输‘意图’。KQML是这个领域的先驱，它用performatives（如ask, tell）封装内容，后来ACL（FIPA标准）吸收言语行为理论，使消息类型可扩展，并常常配以SL语言来包含消息的信任和意图信息。注意ACL自身并不指定语义，需要结合内容语言与本体。</a:t>
            </a:r>
          </a:p>
          <a:p/>
          <a:p>
            <a:r>
              <a:t>谈到交互协议，我们抛出一个场景：‘智能网约车有多个订单，怎么高效分配？’这就是合同网协议发力的地方。请求-应答简单但角色固定，招投标协议允许一方发标、多人投标从而形成动态竞争。合同网更细化：初始者发标，参与者投标，中标者被授予合同并确认。这些协议核心是让Agent在不确定环境中协商出双方认可的承诺。</a:t>
            </a:r>
          </a:p>
          <a:p/>
          <a:p>
            <a:r>
              <a:t>最后，没有本体的话语是无根之木。不同Agent可能用不同词汇表描述同一事物，本体相当于‘域共享词典’，定义概念、属性和关系。我们看到消息被解析后，内容层的概念会映射到本体实例，这样才能真正共享理解。最终，通信是骨架，协议是肌肉，本体是灵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节讲解多智能体系统如何实现协调与任务分配。首先，协调机制是保障系统行为有序的核心：基于规则的协调简单高效，适用于静态或可预测场景；基于市场的协调通过价格信号平衡供需，适合资源稀缺的分布式环境；基于规划的协调需要全局或局部建模，能应对复杂时空依赖。然后观察任务分配策略，集中式由中心节点全局规划，但易成为瓶颈；分布式将对等协商遍历局部信息，擅长容错；混合式则利用层级将不同策略结合，常在现实系统中取得平衡。针对市场机制，我们重点说明拍卖算法——英式拍卖公开竞价容易产生赢者诅咒，荷兰式拍卖速度快捷但有信息损失，首价密封保护隐私却诱导低价，维克瑞拍卖激励真实出价，但需考虑共谋与预算平衡。最后，合同网作为协商式任务分解的经典方法，以招标者发起、竞价者响应、中标者执行的方式将复杂任务切分给多个智能体，其协商、投标与授权机制便于动态调整，在任务分配中被广泛应用。同学们可结合交通调度或云计算资源分配案例，体会这些方法的适用条件和取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始前，可以先问大家：当多个智能体需要协商共享资源或分配任务时，它们如何达成一致？这页我们讨论三种经典工具。第一，Rubinstein谈判模型是一种交替出价协议，无穷多回合中折现因子代表耐心程度；可以指出耐心越强的一方最终分得越多，因为时间折扣给对方压力。建议用一个简单数值例子演示。第二，引入纳什均衡作为预测稳定策略组合的方法，而帕累托最优则衡量效率；强调两者可能不一致，谈判中需要通过承诺或机制设计调和。第三，拍卖是多对一谈判的简化：英语拍卖公开竞价直至无人出价，维克里拍卖则是密封报价且二价成交；后者能激励买方按其真实估值出价，即满足激励相容，这对设计诚实智能体很有价值。讲解时多用买菜或带宽拍卖等日常例子帮助理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从多智能体规划的核心困难讲起：单智能体规划只需要对一个主体的动作排序，而多智能体环境下，每个智能体没有完整信息，也不能依赖统一的中央控制器。MAPF模型将问题形式化为共享空间中的无冲突路径规划，典型场景包括仓储机器人、自动导引车等；求解时，智能体需要协商谁先通过某条边或某个节点，或通过局部搜索避开拥塞。DCSP则把变量和约束分布在多个智能体上，例如会议时间安排中，每个参与者都有自己的可用时段约束，算法通过交换候选值与冲突信息逐步收敛到全局一致解。分布式规划从任务切分入手，先生成各智能体的局部计划，再在结果合成阶段消除共享资源、因果关系和时序上的矛盾。PGP是在动态任务环境中形成全局协作的一种典型机制：每个节点把自己的局部计划、进度和预期目标分享给相关节点，进而生成部分全局计划，从而提前发现重复努力并修正自身安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首先介绍MARL的基本框架，强调与单智能体RL的区别：每个agent的策略变化会导致环境非平稳。然后分合作与竞争两类讨论学习策略，合作场景注重团队奖励的分配，竞争场景引入博弈论概念。接着说明对手建模如何增强对抗鲁棒性，以及通信如何促进协同。最后指出样本效率和扩展性瓶颈，并提及当前研究的常用思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讲解时可以先问学生：如果只有一台机器人或一个中心控制器，这些场景会面临哪些瓶颈？由此引出多智能体系统的核心价值——去中心化、可扩展性和容错能力。随后逐案例展开：搜救中强调动态环境下的任务重分配；交通中强调实时协商和信号配时；电网中强调供需平衡与孤岛切换；电商推荐中强调用户建模与信誉机制。最后点明这些应用都依赖感知、通信、决策与协作四层框架，并鼓励学生思考实际部署时可能出现的通信受限、安全攻击和隐私问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今天我们来讨论多智能体系统在走向实际应用时遇到的主要挑战。虽然多智能体能够互相协作，解决复杂问题，但随着智能体数量增加，系统行为变得难以预测和控制。</a:t>
            </a:r>
          </a:p>
          <a:p/>
          <a:p>
            <a:r>
              <a:t>第一，可扩展性。当智能体数量从几十个增加到成千上万时，智能体之间的通信和协调计算量呈指数级增长。现有的中心化控制方法会遇到性能瓶颈，而分布式算法则面临信息同步和一致性难题。因此，设计高效的算法使系统能支持大规模群体，是一个重要研究方向。</a:t>
            </a:r>
          </a:p>
          <a:p/>
          <a:p>
            <a:r>
              <a:t>第二，安全性。恶意智能体可能会为了自身利益违反规则，甚至发起对抗攻击。例如，在协作任务中，一个被攻破的智能体可能通过发送虚假信息误导其他智能体。我们需要开发鲁棒机制来检测和抵御此类攻击，确保系统的整体安全。</a:t>
            </a:r>
          </a:p>
          <a:p/>
          <a:p>
            <a:r>
              <a:t>第三，可解释性。多智能体团队的决策往往是大量交互的涌现结果，人类很难理解为什么做出某个决定。这在高风险场景如自动驾驶或医疗诊断中是不可接受的。因此必须开发可解释的AI技术，使人类能够监控和信任多智能体系统。</a:t>
            </a:r>
          </a:p>
          <a:p/>
          <a:p>
            <a:r>
              <a:t>最后，伦理和社会问题。随着智能体获得越来越多的自主权，责任归属变得模糊。比如如果自动驾驶汽车造成事故，责任在制造者、使用者还是AI本身？同时，算法的公平性和偏见也可能导致歧视性问题。我们需要立法和道德准则来规范多智能体系统的开发与应用。</a:t>
            </a:r>
          </a:p>
          <a:p/>
          <a:p>
            <a:r>
              <a:t>这些挑战并非不可逾越，它们恰恰是下一阶段研究的重点。解决这些挑战将推动多智能体系统走向更广泛、更负责任的部署。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19169" y="480060"/>
            <a:ext cx="755885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84FC"/>
                </a:solidFill>
                <a:latin typeface="Arial"/>
              </a:rPr>
              <a:t>MULTI-AGENT SYSTEMS · 多智能体系统导论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169" y="1303020"/>
            <a:ext cx="9753356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F5F3FF"/>
                </a:solidFill>
                <a:latin typeface="Arial"/>
              </a:rPr>
              <a:t>什么是多智能体系统？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169" y="2400300"/>
            <a:ext cx="1950671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169" y="2743200"/>
            <a:ext cx="9753356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0">
                <a:solidFill>
                  <a:srgbClr val="DDD6FE"/>
                </a:solidFill>
                <a:latin typeface="Arial"/>
              </a:rPr>
              <a:t>多智能体系统由多个具备自主决策能力的个体组成，它们通过局部感知与通信实现协作，从而完成单一智能体难以应对的复杂任务。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3977639"/>
            <a:ext cx="6095847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Arial"/>
              </a:rPr>
              <a:t>关键特征 · 与单智能体系统的差异</a:t>
            </a:r>
          </a:p>
        </p:txBody>
      </p:sp>
      <p:sp>
        <p:nvSpPr>
          <p:cNvPr id="7" name="Rectangle 6"/>
          <p:cNvSpPr/>
          <p:nvPr/>
        </p:nvSpPr>
        <p:spPr>
          <a:xfrm>
            <a:off x="1219169" y="4526280"/>
            <a:ext cx="2316422" cy="123444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03" y="4697730"/>
            <a:ext cx="1828754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4FC"/>
                </a:solidFill>
                <a:latin typeface="Arial"/>
              </a:rPr>
              <a:t>自主性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03" y="5040630"/>
            <a:ext cx="182875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DD6FE"/>
                </a:solidFill>
                <a:latin typeface="Arial"/>
              </a:rPr>
              <a:t>各自独立推理、决策并执行任务，不需整体指挥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79425" y="4526280"/>
            <a:ext cx="2316422" cy="123444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259" y="4697730"/>
            <a:ext cx="1828754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4FC"/>
                </a:solidFill>
                <a:latin typeface="Arial"/>
              </a:rPr>
              <a:t>社会性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259" y="5040630"/>
            <a:ext cx="182875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DD6FE"/>
                </a:solidFill>
                <a:latin typeface="Arial"/>
              </a:rPr>
              <a:t>交换状态与计划，通过协商完成任务分配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9681" y="4526280"/>
            <a:ext cx="2316422" cy="123444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515" y="4697730"/>
            <a:ext cx="1828754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4FC"/>
                </a:solidFill>
                <a:latin typeface="Arial"/>
              </a:rPr>
              <a:t>反应性 / 预动性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515" y="5040630"/>
            <a:ext cx="182875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DD6FE"/>
                </a:solidFill>
                <a:latin typeface="Arial"/>
              </a:rPr>
              <a:t>快速感知环境变化，同时主动规划后续行为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99937" y="4526280"/>
            <a:ext cx="2316422" cy="123444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3771" y="4697730"/>
            <a:ext cx="1828754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4FC"/>
                </a:solidFill>
                <a:latin typeface="Arial"/>
              </a:rPr>
              <a:t>并行与涌现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3771" y="5040630"/>
            <a:ext cx="1828754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DD6FE"/>
                </a:solidFill>
                <a:latin typeface="Arial"/>
              </a:rPr>
              <a:t>分布式并行、松耦合交互，呈现整体协同智能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57017" y="432699"/>
            <a:ext cx="4145176" cy="28803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342900"/>
            <a:ext cx="975335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84FC"/>
                </a:solidFill>
                <a:latin typeface="Arial"/>
              </a:rPr>
              <a:t>多智能体系统导论 · 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754380"/>
            <a:ext cx="1097252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5F3FF"/>
                </a:solidFill>
                <a:latin typeface="Arial"/>
              </a:rPr>
              <a:t>为什么需要多智能体系统？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508760"/>
            <a:ext cx="10972525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C4B5FD"/>
                </a:solidFill>
                <a:latin typeface="Arial"/>
              </a:rPr>
              <a:t>让多个自主智能体协同配合，突破单体在规模、空间与动态变化上的能力边界。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" y="2194560"/>
            <a:ext cx="5242428" cy="178308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9584" y="2194560"/>
            <a:ext cx="5242428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03" y="2468880"/>
            <a:ext cx="121916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Arial"/>
              </a:rPr>
              <a:t>01 / 局限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03" y="2880360"/>
            <a:ext cx="414517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F3FF"/>
                </a:solidFill>
                <a:latin typeface="Arial"/>
              </a:rPr>
              <a:t>能力局限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03" y="3429000"/>
            <a:ext cx="426709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单个智能体感知、计算与行动力有限，难以应对规模大、分布广、动态复杂的问题。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39681" y="2194560"/>
            <a:ext cx="5242428" cy="178308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39681" y="2194560"/>
            <a:ext cx="5242428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93100" y="2468880"/>
            <a:ext cx="121916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Arial"/>
              </a:rPr>
              <a:t>02 / 价值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93100" y="2880360"/>
            <a:ext cx="414517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F3FF"/>
                </a:solidFill>
                <a:latin typeface="Arial"/>
              </a:rPr>
              <a:t>增益机制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93100" y="3429000"/>
            <a:ext cx="426709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多个体通过协作与竞争互补，提升整体效率，增强鲁棒性与灵活性。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9584" y="4251960"/>
            <a:ext cx="5242428" cy="178308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09584" y="4251960"/>
            <a:ext cx="5242428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03" y="4526280"/>
            <a:ext cx="121916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Arial"/>
              </a:rPr>
              <a:t>03 / 范式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03" y="4937760"/>
            <a:ext cx="414517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F3FF"/>
                </a:solidFill>
                <a:latin typeface="Arial"/>
              </a:rPr>
              <a:t>典型范式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03" y="5486400"/>
            <a:ext cx="426709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多用于分布式控制、资源管理与仿真建模，如多机器人协同、智能电网调度。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39681" y="4251960"/>
            <a:ext cx="5242428" cy="178308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39681" y="4251960"/>
            <a:ext cx="5242428" cy="54864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93100" y="4526280"/>
            <a:ext cx="121916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Arial"/>
              </a:rPr>
              <a:t>04 / 场景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93100" y="4937760"/>
            <a:ext cx="414517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200" b="1">
                <a:solidFill>
                  <a:srgbClr val="F5F3FF"/>
                </a:solidFill>
                <a:latin typeface="Arial"/>
              </a:rPr>
              <a:t>应用领域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93100" y="5486400"/>
            <a:ext cx="426709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覆盖机器人协作、智能交通、智能电网、社会模拟等广泛领域。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87667" y="240030"/>
            <a:ext cx="5852013" cy="384047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5F3FF"/>
                </a:solidFill>
                <a:latin typeface="Arial"/>
              </a:rPr>
              <a:t>智能体与环境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339681" y="342900"/>
            <a:ext cx="5364345" cy="246888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C084FC"/>
                </a:solidFill>
                <a:latin typeface="Arial"/>
              </a:rPr>
              <a:t>智能体基础与通信 · 概念页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50" y="960120"/>
            <a:ext cx="5669138" cy="240030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584" y="1076706"/>
            <a:ext cx="5120511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84FC"/>
                </a:solidFill>
                <a:latin typeface="Arial"/>
              </a:rPr>
              <a:t>智能体类型如何选择？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2051" y="1508760"/>
            <a:ext cx="5400920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反应式 ｜ 感知-动作映射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  即时响应、无需内部状态；适合动态环境；难完成需要历史信息的任务</a:t>
            </a:r>
          </a:p>
          <a:p>
            <a:pPr algn="l"/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慎思式 ｜ 显式世界模型 + 逻辑推理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  能规划复杂目标；计算/建模开销大，对模型准确性要求高</a:t>
            </a:r>
          </a:p>
          <a:p>
            <a:pPr algn="l"/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混合式 ｜ 反应层 + 慎思层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  兼顾实时性与远期计划；典型为三层架构：感知执行 / 规划 / 协调</a:t>
            </a:r>
          </a:p>
        </p:txBody>
      </p:sp>
      <p:sp>
        <p:nvSpPr>
          <p:cNvPr id="7" name="Rectangle 6"/>
          <p:cNvSpPr/>
          <p:nvPr/>
        </p:nvSpPr>
        <p:spPr>
          <a:xfrm>
            <a:off x="6156805" y="960120"/>
            <a:ext cx="5669138" cy="240030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639" y="1076706"/>
            <a:ext cx="5120511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84FC"/>
                </a:solidFill>
                <a:latin typeface="Arial"/>
              </a:rPr>
              <a:t>环境特性决定设计策略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3106" y="1508760"/>
            <a:ext cx="5364345" cy="17830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可访问性　完全 ↔ 部分可观测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  部分可观测 → POMDP / 信念状态</a:t>
            </a:r>
          </a:p>
          <a:p>
            <a:pPr algn="l"/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确定性　　确定 ↔ 随机未知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  不确定环境 → 概率估计 / 在线规划</a:t>
            </a:r>
          </a:p>
          <a:p>
            <a:pPr algn="l"/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动态性　　静态 ↔ 动态变化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  动态环境 → 感知-行动闭环 / 高频重规划</a:t>
            </a:r>
          </a:p>
          <a:p>
            <a:pPr algn="l"/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这些属性决定是否维护内部状态、选择何种智能体结构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50" y="3566160"/>
            <a:ext cx="5669138" cy="253746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9584" y="3703320"/>
            <a:ext cx="5364345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84FC"/>
                </a:solidFill>
                <a:latin typeface="Arial"/>
              </a:rPr>
              <a:t>感知—行动循环（Sense-Act）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51" y="4128516"/>
            <a:ext cx="5388729" cy="18516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迭代：感知 → 建模 → 决策 → 执行 → 感知</a:t>
            </a:r>
          </a:p>
          <a:p>
            <a:pPr algn="l"/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· 感知：从传感器数据中抽取状态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· 建模：更新世界模型 / 信念状态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· 决策：预演策略并选择行动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· 执行：影响环境，进入下一轮</a:t>
            </a:r>
          </a:p>
          <a:p>
            <a:pPr algn="l"/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该闭环使智能体在动态、不确定环境中持续校准行动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56805" y="3566160"/>
            <a:ext cx="5669138" cy="253746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639" y="3703320"/>
            <a:ext cx="5364345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C084FC"/>
                </a:solidFill>
                <a:latin typeface="Arial"/>
              </a:rPr>
              <a:t>决策树：状态 → 动作分支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39681" y="4128516"/>
            <a:ext cx="5388729" cy="18516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例：路口是否通行？</a:t>
            </a:r>
          </a:p>
          <a:p>
            <a:pPr algn="l"/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  当前信号 S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  ├─ S=绿灯 → 执行 A1（通行）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  └─ S=黄灯 → 检查安全距离 d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      ├─ d≥安全 → 执行 A2（通行）</a:t>
            </a:r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      └─ d&lt;安全 → 执行 A3（等待）</a:t>
            </a:r>
          </a:p>
          <a:p>
            <a:pPr algn="l"/>
          </a:p>
          <a:p>
            <a:pPr algn="l"/>
            <a:r>
              <a:rPr sz="1200" b="0">
                <a:solidFill>
                  <a:srgbClr val="DDD6FE"/>
                </a:solidFill>
                <a:latin typeface="Arial"/>
              </a:rPr>
              <a:t>决策树分支清晰展示状态-行动关系；结合启发式评估可在有限深度内高效选择行动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171450"/>
            <a:ext cx="731501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Arial"/>
              </a:rPr>
              <a:t>智能体基础与通信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445770"/>
            <a:ext cx="10241023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F5F3FF"/>
                </a:solidFill>
                <a:latin typeface="Arial"/>
              </a:rPr>
              <a:t>通信与交互协议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169" y="1062990"/>
            <a:ext cx="9753356" cy="27432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09584" y="1234440"/>
            <a:ext cx="10972525" cy="205740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5335" y="1337310"/>
            <a:ext cx="731501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F5F3FF"/>
                </a:solidFill>
                <a:latin typeface="Arial"/>
              </a:rPr>
              <a:t>① 通信方式对比</a:t>
            </a:r>
          </a:p>
        </p:txBody>
      </p:sp>
      <p:sp>
        <p:nvSpPr>
          <p:cNvPr id="7" name="Rectangle 6"/>
          <p:cNvSpPr/>
          <p:nvPr/>
        </p:nvSpPr>
        <p:spPr>
          <a:xfrm>
            <a:off x="975335" y="1680210"/>
            <a:ext cx="3291757" cy="1440180"/>
          </a:xfrm>
          <a:prstGeom prst="rect">
            <a:avLst/>
          </a:prstGeom>
          <a:solidFill>
            <a:srgbClr val="3A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9169" y="1796796"/>
            <a:ext cx="2926006" cy="2400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4FC"/>
                </a:solidFill>
                <a:latin typeface="Arial"/>
              </a:rPr>
              <a:t>点对点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9169" y="2125980"/>
            <a:ext cx="2804089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小规模 · 私密交互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9169" y="2503170"/>
            <a:ext cx="280408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DD6FE"/>
                </a:solidFill>
                <a:latin typeface="Arial"/>
              </a:rPr>
              <a:t>拓扑：A ⇄ B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0927" y="1680210"/>
            <a:ext cx="3291757" cy="1440180"/>
          </a:xfrm>
          <a:prstGeom prst="rect">
            <a:avLst/>
          </a:prstGeom>
          <a:solidFill>
            <a:srgbClr val="3A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761" y="1796796"/>
            <a:ext cx="2926006" cy="2400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4FC"/>
                </a:solidFill>
                <a:latin typeface="Arial"/>
              </a:rPr>
              <a:t>广播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761" y="2125980"/>
            <a:ext cx="2804089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开放环境 · 一对多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761" y="2503170"/>
            <a:ext cx="280408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DD6FE"/>
                </a:solidFill>
                <a:latin typeface="Arial"/>
              </a:rPr>
              <a:t>拓扑：A → B/C/D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46518" y="1680210"/>
            <a:ext cx="3291757" cy="1440180"/>
          </a:xfrm>
          <a:prstGeom prst="rect">
            <a:avLst/>
          </a:prstGeom>
          <a:solidFill>
            <a:srgbClr val="3A2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90352" y="1796796"/>
            <a:ext cx="2926006" cy="2400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4FC"/>
                </a:solidFill>
                <a:latin typeface="Arial"/>
              </a:rPr>
              <a:t>黑板系统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90352" y="2125980"/>
            <a:ext cx="2804089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共享空间 · 异步解耦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90352" y="2503170"/>
            <a:ext cx="2804089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DDD6FE"/>
                </a:solidFill>
                <a:latin typeface="Arial"/>
              </a:rPr>
              <a:t>拓扑：Agent ⇄ 黑板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584" y="3634740"/>
            <a:ext cx="5364345" cy="171450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5335" y="3771900"/>
            <a:ext cx="4632844" cy="2400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5F3FF"/>
                </a:solidFill>
                <a:latin typeface="Arial"/>
              </a:rPr>
              <a:t>② 通信语言：ACL / KQML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75335" y="4149090"/>
            <a:ext cx="4632844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KQML：performative 表达意图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5335" y="4526280"/>
            <a:ext cx="4632844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ACL：基于言语行为理论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5335" y="4903470"/>
            <a:ext cx="4632844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支持丰富的交互语义层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764" y="3634740"/>
            <a:ext cx="5364345" cy="171450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515" y="3771900"/>
            <a:ext cx="4632844" cy="2400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5F3FF"/>
                </a:solidFill>
                <a:latin typeface="Arial"/>
              </a:rPr>
              <a:t>③ 交互协议 / 合同网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515" y="4149090"/>
            <a:ext cx="4632844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请求-应答：同步询问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515" y="4526280"/>
            <a:ext cx="4632844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招投标：竞标分配任务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515" y="4903470"/>
            <a:ext cx="4632844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授权 → 执行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9584" y="5692140"/>
            <a:ext cx="10972525" cy="96012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5335" y="5795010"/>
            <a:ext cx="7924601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900" b="1">
                <a:solidFill>
                  <a:srgbClr val="F5F3FF"/>
                </a:solidFill>
                <a:latin typeface="Arial"/>
              </a:rPr>
              <a:t>④ 本体：语义互操作基础设施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5335" y="6206490"/>
            <a:ext cx="10241023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共享词汇 + 语义模型 → Agent 间对消息一致理解，避免歧义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3418" y="548640"/>
            <a:ext cx="10484857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200" b="1">
                <a:solidFill>
                  <a:srgbClr val="F5F3FF"/>
                </a:solidFill>
                <a:latin typeface="Arial"/>
              </a:rPr>
              <a:t>协调与任务分配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52" y="1988819"/>
            <a:ext cx="999718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• 协调机制三类：基于规则（反应式）、基于市场（价格驱动）、基于规划（认知式），其选择依赖环境动态性与智能体理性程度。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52" y="2674620"/>
            <a:ext cx="999718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• 任务分配策略分集中式、分布式与混合式：集中式全局优化但单点失效，分布式鲁棒但局部次优，混合式兼顾效率与扩展性。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52" y="3360420"/>
            <a:ext cx="999718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• 市场机制通过拍卖调配稀缺任务/资源，常用拍卖算法包括英式、荷兰式、首价密封和维克瑞拍卖，各自具备优势与隐私考量。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52" y="4046220"/>
            <a:ext cx="9997189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• 合同网协议（CNP）利用招标-投标-中标流程实现任务动态分解与分配，强调协商过程与智能体间反馈闭环，支持复杂任务协作。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584" y="205740"/>
            <a:ext cx="365750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084FC"/>
                </a:solidFill>
                <a:latin typeface="Arial"/>
              </a:rPr>
              <a:t>协调与分布式智能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617220"/>
            <a:ext cx="1097252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5F3FF"/>
                </a:solidFill>
                <a:latin typeface="Arial"/>
              </a:rPr>
              <a:t>谈判与战略交互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584" y="1714500"/>
            <a:ext cx="3535591" cy="432054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09584" y="2194560"/>
            <a:ext cx="353559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084FC"/>
                </a:solidFill>
                <a:latin typeface="Arial"/>
              </a:rPr>
              <a:t>◆ 谈判模型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584" y="3154680"/>
            <a:ext cx="353559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3FF"/>
                </a:solidFill>
                <a:latin typeface="Arial"/>
              </a:rPr>
              <a:t>Rubinstein 交替出价 + 时间折扣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9584" y="4251960"/>
            <a:ext cx="353559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DDD6FE"/>
                </a:solidFill>
                <a:latin typeface="Arial"/>
              </a:rPr>
              <a:t>时间折扣 → 耐心与出价让步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010" y="1714500"/>
            <a:ext cx="3535591" cy="432054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89010" y="2194560"/>
            <a:ext cx="353559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084FC"/>
                </a:solidFill>
                <a:latin typeface="Arial"/>
              </a:rPr>
              <a:t>● 博弈论基础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010" y="3154680"/>
            <a:ext cx="353559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3FF"/>
                </a:solidFill>
                <a:latin typeface="Arial"/>
              </a:rPr>
              <a:t>纳什均衡 vs 帕累托最优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010" y="4251960"/>
            <a:ext cx="353559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DDD6FE"/>
                </a:solidFill>
                <a:latin typeface="Arial"/>
              </a:rPr>
              <a:t>策略稳定与资源配置效率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68435" y="1714500"/>
            <a:ext cx="3535591" cy="432054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68435" y="2194560"/>
            <a:ext cx="353559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C084FC"/>
                </a:solidFill>
                <a:latin typeface="Arial"/>
              </a:rPr>
              <a:t>▲ 拍卖协议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68435" y="3154680"/>
            <a:ext cx="3535591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2000" b="1">
                <a:solidFill>
                  <a:srgbClr val="F5F3FF"/>
                </a:solidFill>
                <a:latin typeface="Arial"/>
              </a:rPr>
              <a:t>英语拍卖 / 维克里拍卖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8435" y="4251960"/>
            <a:ext cx="3535591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DDD6FE"/>
                </a:solidFill>
                <a:latin typeface="Arial"/>
              </a:rPr>
              <a:t>公开竞价 vs 密封次价（激励相容）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754" y="6309360"/>
            <a:ext cx="853418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500" b="0">
                <a:solidFill>
                  <a:srgbClr val="C084FC"/>
                </a:solidFill>
                <a:latin typeface="Arial"/>
              </a:rPr>
              <a:t>机制设计让个体理性导向群体最优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0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219169" y="274320"/>
            <a:ext cx="9753356" cy="4800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3FF"/>
                </a:solidFill>
                <a:latin typeface="Arial"/>
              </a:rPr>
              <a:t>分布式规划与问题求解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03" y="891540"/>
            <a:ext cx="7315017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C084FC"/>
                </a:solidFill>
                <a:latin typeface="Arial"/>
              </a:rPr>
              <a:t>协调与分布式智能：无全局控制者下的协作决策</a:t>
            </a:r>
          </a:p>
        </p:txBody>
      </p:sp>
      <p:sp>
        <p:nvSpPr>
          <p:cNvPr id="5" name="Rectangle 4"/>
          <p:cNvSpPr/>
          <p:nvPr/>
        </p:nvSpPr>
        <p:spPr>
          <a:xfrm>
            <a:off x="6059272" y="2468880"/>
            <a:ext cx="73150" cy="61722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059272" y="3771900"/>
            <a:ext cx="73150" cy="685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535591" y="3408426"/>
            <a:ext cx="975335" cy="4114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680767" y="3408426"/>
            <a:ext cx="975335" cy="41148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10927" y="3086100"/>
            <a:ext cx="3169840" cy="685800"/>
          </a:xfrm>
          <a:prstGeom prst="rect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10927" y="3154680"/>
            <a:ext cx="3169840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0F24"/>
                </a:solidFill>
                <a:latin typeface="Arial"/>
              </a:rPr>
              <a:t>分布式规划与问题求解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10927" y="1371600"/>
            <a:ext cx="3169840" cy="109728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10927" y="1440180"/>
            <a:ext cx="3169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3FF"/>
                </a:solidFill>
                <a:latin typeface="Arial"/>
              </a:rPr>
              <a:t>MAPF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44" y="1783080"/>
            <a:ext cx="2926006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DDD6FE"/>
                </a:solidFill>
                <a:latin typeface="Arial"/>
              </a:rPr>
              <a:t>共享空间路径规划</a:t>
            </a:r>
          </a:p>
          <a:p>
            <a:pPr algn="l"/>
            <a:r>
              <a:rPr sz="1100" b="0">
                <a:solidFill>
                  <a:srgbClr val="DDD6FE"/>
                </a:solidFill>
                <a:latin typeface="Arial"/>
              </a:rPr>
              <a:t>碰撞消解 · 死锁避免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10927" y="4457700"/>
            <a:ext cx="3169840" cy="102870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10927" y="4526280"/>
            <a:ext cx="3169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1">
                <a:solidFill>
                  <a:srgbClr val="F5F3FF"/>
                </a:solidFill>
                <a:latin typeface="Arial"/>
              </a:rPr>
              <a:t>分布式规划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2844" y="4869180"/>
            <a:ext cx="2926006" cy="5486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DDD6FE"/>
                </a:solidFill>
                <a:latin typeface="Arial"/>
              </a:rPr>
              <a:t>任务分解与结果合成</a:t>
            </a:r>
          </a:p>
          <a:p>
            <a:pPr algn="l"/>
            <a:r>
              <a:rPr sz="1100" b="0">
                <a:solidFill>
                  <a:srgbClr val="DDD6FE"/>
                </a:solidFill>
                <a:latin typeface="Arial"/>
              </a:rPr>
              <a:t>资源/时序冲突处理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56103" y="3017520"/>
            <a:ext cx="2804089" cy="82296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56103" y="3086100"/>
            <a:ext cx="2804089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3FF"/>
                </a:solidFill>
                <a:latin typeface="Arial"/>
              </a:rPr>
              <a:t>DCSP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78020" y="3360420"/>
            <a:ext cx="2560255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DD6FE"/>
                </a:solidFill>
                <a:latin typeface="Arial"/>
              </a:rPr>
              <a:t>变量约束分散</a:t>
            </a:r>
          </a:p>
          <a:p>
            <a:pPr algn="l"/>
            <a:r>
              <a:rPr sz="1000" b="0">
                <a:solidFill>
                  <a:srgbClr val="DDD6FE"/>
                </a:solidFill>
                <a:latin typeface="Arial"/>
              </a:rPr>
              <a:t>异步回溯 · 全局一致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01" y="3017520"/>
            <a:ext cx="2804089" cy="82296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01" y="3086100"/>
            <a:ext cx="2804089" cy="20574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5F3FF"/>
                </a:solidFill>
                <a:latin typeface="Arial"/>
              </a:rPr>
              <a:t>PGP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3418" y="3360420"/>
            <a:ext cx="2560255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DDD6FE"/>
                </a:solidFill>
                <a:latin typeface="Arial"/>
              </a:rPr>
              <a:t>交换局部规划</a:t>
            </a:r>
          </a:p>
          <a:p>
            <a:pPr algn="l"/>
            <a:r>
              <a:rPr sz="1000" b="0">
                <a:solidFill>
                  <a:srgbClr val="DDD6FE"/>
                </a:solidFill>
                <a:latin typeface="Arial"/>
              </a:rPr>
              <a:t>动态发现依赖并调整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19169" y="5897880"/>
            <a:ext cx="975335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A78BFA"/>
                </a:solidFill>
                <a:latin typeface="Arial"/>
              </a:rPr>
              <a:t>共同挑战：无全局控制者 · 信息局部性 · 动态环境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192023"/>
            <a:ext cx="7315017" cy="2400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C084FC"/>
                </a:solidFill>
                <a:latin typeface="Arial"/>
              </a:rPr>
              <a:t>学习、应用与未来挑战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480060"/>
            <a:ext cx="8534186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F5F3FF"/>
                </a:solidFill>
                <a:latin typeface="Arial"/>
              </a:rPr>
              <a:t>多智能体学习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584" y="1200150"/>
            <a:ext cx="10972525" cy="51435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DDD6FE"/>
                </a:solidFill>
                <a:latin typeface="Arial"/>
              </a:rPr>
              <a:t>多智能体学习研究多个 agent 在共享环境中的协同 / 竞争决策；状态、动作与奖励扩展为联合形式，核心挑战是非平稳性、信用分配与可扩展性。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901342" y="1988819"/>
            <a:ext cx="4389010" cy="7543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3FF"/>
                </a:solidFill>
                <a:latin typeface="Arial"/>
              </a:rPr>
              <a:t>MARL 核心框架</a:t>
            </a:r>
          </a:p>
          <a:p>
            <a:pPr algn="ctr"/>
            <a:r>
              <a:rPr sz="1800" b="1">
                <a:solidFill>
                  <a:srgbClr val="F5F3FF"/>
                </a:solidFill>
                <a:latin typeface="Arial"/>
              </a:rPr>
              <a:t>联合状态·动作·奖励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12972" y="2811780"/>
            <a:ext cx="36575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084FC"/>
                </a:solidFill>
                <a:latin typeface="Arial"/>
              </a:rPr>
              <a:t>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3418" y="3188970"/>
            <a:ext cx="4754761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3FF"/>
                </a:solidFill>
                <a:latin typeface="Arial"/>
              </a:rPr>
              <a:t>合作环境学习</a:t>
            </a:r>
          </a:p>
          <a:p>
            <a:pPr algn="ctr"/>
            <a:r>
              <a:rPr sz="1800" b="1">
                <a:solidFill>
                  <a:srgbClr val="F5F3FF"/>
                </a:solidFill>
                <a:latin typeface="Arial"/>
              </a:rPr>
              <a:t>共享 / 个体奖励</a:t>
            </a:r>
          </a:p>
          <a:p>
            <a:pPr algn="ctr"/>
            <a:r>
              <a:rPr sz="1800" b="1">
                <a:solidFill>
                  <a:srgbClr val="F5F3FF"/>
                </a:solidFill>
                <a:latin typeface="Arial"/>
              </a:rPr>
              <a:t>QMIX · COMA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515" y="3188970"/>
            <a:ext cx="4754761" cy="9601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3FF"/>
                </a:solidFill>
                <a:latin typeface="Arial"/>
              </a:rPr>
              <a:t>竞争环境学习</a:t>
            </a:r>
          </a:p>
          <a:p>
            <a:pPr algn="ctr"/>
            <a:r>
              <a:rPr sz="1800" b="1">
                <a:solidFill>
                  <a:srgbClr val="F5F3FF"/>
                </a:solidFill>
                <a:latin typeface="Arial"/>
              </a:rPr>
              <a:t>自博弈 · 遗憾最小化</a:t>
            </a:r>
          </a:p>
          <a:p>
            <a:pPr algn="ctr"/>
            <a:r>
              <a:rPr sz="1800" b="1">
                <a:solidFill>
                  <a:srgbClr val="F5F3FF"/>
                </a:solidFill>
                <a:latin typeface="Arial"/>
              </a:rPr>
              <a:t>博弈论策略 / 纳什均衡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12972" y="4251960"/>
            <a:ext cx="36575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084FC"/>
                </a:solidFill>
                <a:latin typeface="Arial"/>
              </a:rPr>
              <a:t>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2172" y="4697730"/>
            <a:ext cx="6827349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5F3FF"/>
                </a:solidFill>
                <a:latin typeface="Arial"/>
              </a:rPr>
              <a:t>对手建模与通信学习</a:t>
            </a:r>
          </a:p>
          <a:p>
            <a:pPr algn="ctr"/>
            <a:r>
              <a:rPr sz="1800" b="1">
                <a:solidFill>
                  <a:srgbClr val="F5F3FF"/>
                </a:solidFill>
                <a:latin typeface="Arial"/>
              </a:rPr>
              <a:t>显式建模对手策略 · TarMAC / DIAL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12972" y="5623560"/>
            <a:ext cx="365750" cy="24003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C084FC"/>
                </a:solidFill>
                <a:latin typeface="Arial"/>
              </a:rPr>
              <a:t>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3418" y="6000750"/>
            <a:ext cx="10484857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ctr"/>
            <a:r>
              <a:rPr sz="1700" b="0">
                <a:solidFill>
                  <a:srgbClr val="DDD6FE"/>
                </a:solidFill>
                <a:latin typeface="Arial"/>
              </a:rPr>
              <a:t>样本效率与扩展挑战：状态空间指数增长 → 非平稳性 / 信用分配；应对：场景采样 · 经验回放 · 去中心化执行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75335" y="274320"/>
            <a:ext cx="8534186" cy="6172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800" b="1">
                <a:solidFill>
                  <a:srgbClr val="F5F3FF"/>
                </a:solidFill>
                <a:latin typeface="Arial"/>
              </a:rPr>
              <a:t>典型应用案例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75335" y="925830"/>
            <a:ext cx="109725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C084FC"/>
                </a:solidFill>
                <a:latin typeface="Arial"/>
              </a:rPr>
              <a:t>学习、应用与未来挑战 | 多智能体系统的现实落地</a:t>
            </a:r>
          </a:p>
        </p:txBody>
      </p:sp>
      <p:sp>
        <p:nvSpPr>
          <p:cNvPr id="4" name="Rectangle 3"/>
          <p:cNvSpPr/>
          <p:nvPr/>
        </p:nvSpPr>
        <p:spPr>
          <a:xfrm>
            <a:off x="975335" y="1440180"/>
            <a:ext cx="4876678" cy="133731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19169" y="1543050"/>
            <a:ext cx="43890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C084FC"/>
                </a:solidFill>
                <a:latin typeface="Arial"/>
              </a:rPr>
              <a:t>①  机器人协作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169" y="1906524"/>
            <a:ext cx="438901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搜救：共享地图、任务分配与队形控制</a:t>
            </a:r>
          </a:p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搬运：协商受力点、路径和速度</a:t>
            </a:r>
          </a:p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应对单点故障与协同冲突</a:t>
            </a:r>
          </a:p>
        </p:txBody>
      </p:sp>
      <p:sp>
        <p:nvSpPr>
          <p:cNvPr id="7" name="Rectangle 6"/>
          <p:cNvSpPr/>
          <p:nvPr/>
        </p:nvSpPr>
        <p:spPr>
          <a:xfrm>
            <a:off x="6339681" y="1440180"/>
            <a:ext cx="4876678" cy="133731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515" y="1543050"/>
            <a:ext cx="43890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C084FC"/>
                </a:solidFill>
                <a:latin typeface="Arial"/>
              </a:rPr>
              <a:t>②  智能交通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515" y="1906524"/>
            <a:ext cx="438901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车辆与信号灯作为自治智能体</a:t>
            </a:r>
          </a:p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V2V/V2I 交换意图，协商绿灯时间</a:t>
            </a:r>
          </a:p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挑战：延迟、异构车辆、安全容错</a:t>
            </a:r>
          </a:p>
        </p:txBody>
      </p:sp>
      <p:sp>
        <p:nvSpPr>
          <p:cNvPr id="10" name="Rectangle 9"/>
          <p:cNvSpPr/>
          <p:nvPr/>
        </p:nvSpPr>
        <p:spPr>
          <a:xfrm>
            <a:off x="975335" y="2948940"/>
            <a:ext cx="4876678" cy="133731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19169" y="3051810"/>
            <a:ext cx="43890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C084FC"/>
                </a:solidFill>
                <a:latin typeface="Arial"/>
              </a:rPr>
              <a:t>③  智能电网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19169" y="3415284"/>
            <a:ext cx="438901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发电/储能/用户抽象为智能体</a:t>
            </a:r>
          </a:p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分布式优化与讨价还价</a:t>
            </a:r>
          </a:p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微网故障时切换为孤岛运行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39681" y="2948940"/>
            <a:ext cx="4876678" cy="133731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515" y="3051810"/>
            <a:ext cx="4389010" cy="30861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C084FC"/>
                </a:solidFill>
                <a:latin typeface="Arial"/>
              </a:rPr>
              <a:t>④  在线拍卖与推荐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515" y="3415284"/>
            <a:ext cx="438901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软件智能体代理买卖双方</a:t>
            </a:r>
          </a:p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拍卖智能体自适应报价</a:t>
            </a:r>
          </a:p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• 推荐协同建模 + 信誉机制防欺诈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75335" y="4526280"/>
            <a:ext cx="10241023" cy="106299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41086" y="4663440"/>
            <a:ext cx="9509522" cy="82296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F5F3FF"/>
                </a:solidFill>
                <a:latin typeface="Arial"/>
              </a:rPr>
              <a:t>共同点：单个智能体能力有限，必须通过感知、通信、协商与协作完成全局目标；设计时需权衡局部自主性、全局最优性、通信代价与鲁棒性。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0F2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584" y="274320"/>
            <a:ext cx="10972525" cy="6858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F5F3FF"/>
                </a:solidFill>
                <a:latin typeface="Arial"/>
              </a:rPr>
              <a:t>挑战与发展方向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584" y="1028700"/>
            <a:ext cx="10972525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A5B4FC"/>
                </a:solidFill>
                <a:latin typeface="Arial"/>
              </a:rPr>
              <a:t>规模化落地必须面对的四类核心挑战</a:t>
            </a:r>
          </a:p>
        </p:txBody>
      </p:sp>
      <p:sp>
        <p:nvSpPr>
          <p:cNvPr id="4" name="Rectangle 3"/>
          <p:cNvSpPr/>
          <p:nvPr/>
        </p:nvSpPr>
        <p:spPr>
          <a:xfrm>
            <a:off x="1219169" y="2125980"/>
            <a:ext cx="3413674" cy="137160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58850" y="2125980"/>
            <a:ext cx="3413674" cy="137160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19169" y="4320540"/>
            <a:ext cx="3413674" cy="137160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58850" y="4320540"/>
            <a:ext cx="3413674" cy="1371600"/>
          </a:xfrm>
          <a:prstGeom prst="rect">
            <a:avLst/>
          </a:prstGeom>
          <a:solidFill>
            <a:srgbClr val="2B1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4998594" y="3291840"/>
            <a:ext cx="2194505" cy="1234440"/>
          </a:xfrm>
          <a:prstGeom prst="ellipse">
            <a:avLst/>
          </a:prstGeom>
          <a:solidFill>
            <a:srgbClr val="C08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303387" y="3771900"/>
            <a:ext cx="15849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60F24"/>
                </a:solidFill>
                <a:latin typeface="Arial"/>
              </a:rPr>
              <a:t>多智能体系统挑战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84920" y="2400300"/>
            <a:ext cx="292600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4FC"/>
                </a:solidFill>
                <a:latin typeface="Arial"/>
              </a:rPr>
              <a:t>可扩展性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4920" y="2880360"/>
            <a:ext cx="292600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大量智能体的算法复杂性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4601" y="2400300"/>
            <a:ext cx="292600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4FC"/>
                </a:solidFill>
                <a:latin typeface="Arial"/>
              </a:rPr>
              <a:t>安全性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24601" y="2880360"/>
            <a:ext cx="292600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恶意智能体与对抗攻击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4920" y="4594860"/>
            <a:ext cx="292600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4FC"/>
                </a:solidFill>
                <a:latin typeface="Arial"/>
              </a:rPr>
              <a:t>可解释性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84920" y="5074920"/>
            <a:ext cx="292600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多智能体协作决策透明化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4601" y="4594860"/>
            <a:ext cx="2926006" cy="34290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C084FC"/>
                </a:solidFill>
                <a:latin typeface="Arial"/>
              </a:rPr>
              <a:t>伦理与社会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4601" y="5074920"/>
            <a:ext cx="2926006" cy="411480"/>
          </a:xfrm>
          <a:prstGeom prst="rect">
            <a:avLst/>
          </a:prstGeom>
          <a:noFill/>
          <a:ln>
            <a:noFill/>
          </a:ln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DDD6FE"/>
                </a:solidFill>
                <a:latin typeface="Arial"/>
              </a:rPr>
              <a:t>自主权责任与公平性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