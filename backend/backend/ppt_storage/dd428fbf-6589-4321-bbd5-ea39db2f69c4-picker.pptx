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幻灯片介绍港大的基本概况。首先强调港大是香港历史最悠久的大学，创办于1911年。其次，校园位于香港岛中西区，环境优美。然后，港大以研究为导向，致力于知识创新和服务社会。最后，港大是一个国际化的校园，汇聚全球人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同学，今天我们介绍香港大学的愿景与使命。港大致力于成为亚洲乃至全球卓越的研究型大学，其使命是推动知识创造与传承，培育具备全球视野的未来领袖。核心价值观包括学术自由、创新、卓越与诚信，校训“明德格物”则强调修养品德与探索真理。这些理念共同塑造了港大独特的校园文化与学术精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各位，今天介绍香港大学的历史和排名。港大创立于1911年，是香港百年名校，见证了香港的变迁。最初只设医学院，后来逐步扩展。现在在 QS 2025 排名第17，THE 2024排名第35，牙科、教育等学科位居世界前列。这些成就体现了港大的学术实力。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接下来我们来看看港大的学术实力。香港大学设有十大学院，覆盖建筑、文学、经济及工商管理、教育、工程、法律、医学、理学、社会科学和牙医学等多个领域。这些学院提供从本科到博士的各类课程，并且通过跨学科研究平台，促进不同学科之间的知识整合。下一页我们将具体介绍各学院的特色课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香港大学在科研领域表现突出，研究实力雄厚，并获多个国际奖项。设有多个国家重点实验室，如脑与认知科学国家重点实验室等。在生物医学、材料科学、人工智能等领域均有重要突破。科研经费充裕，持续支持创新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介绍香港大学的校园生活。主校区占地约16公顷，环境优美；图书馆藏书丰富，电子资源齐全；学生宿舍和体育设施完善；超过100个学生社团丰富课余生活；每年还举办文化节、体育赛事等。这些设施与活动为学生提供了良好的学习与生活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，在国际视野方面，港大与全球超过400所大学建立了合作关系，并提供遍布世界各地的交换生计划。我们与剑桥、牛津、MIT等知名高校开展联合培养与科研合作，国际学生比例高，营造了多元文化氛围。这些交流项目极大地丰富了学生的学习经历，也提升了他们的全球竞争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强调港大毕业生在就业市场上的强劲竞争力，以及学校在职业发展方面给予的持续支持。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这一页介绍港大的招生政策与申请流程。港大的本科课程有JUPAS和直接申请两种方式，研究生课程分授课型和研究型，全年接受申请。申请时需提交学术成绩、语言成绩、推荐信和个人陈述。此外，港大设有丰富的奖学金支持优秀学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香港大学的知名校友。孙中山先生是港大前身香港西医书院的首届毕业生，被誉为国父。张爱玲是著名作家，曾在港大求学。李嘉诚和何鸿燊是香港商界的传奇人物。梁振英和林郑月娥都曾担任香港特别行政区行政长官。这些校友体现了港大在教育和社会贡献方面的卓越成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87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548640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75B42"/>
                </a:solidFill>
                <a:latin typeface="Arial"/>
              </a:rPr>
              <a:t>港大简介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1234440"/>
            <a:ext cx="1828754" cy="34290"/>
          </a:xfrm>
          <a:prstGeom prst="rect">
            <a:avLst/>
          </a:prstGeom>
          <a:solidFill>
            <a:srgbClr val="087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9169" y="1714500"/>
            <a:ext cx="9753356" cy="30861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754" y="2057400"/>
            <a:ext cx="8534186" cy="2400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创办于1911年，是香港历史最悠久的高等学府</a:t>
            </a:r>
          </a:p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校园位于香港岛中西区，依山傍水，环境优美</a:t>
            </a:r>
          </a:p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以研究为导向，致力于知识创新与服务社会</a:t>
            </a:r>
          </a:p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国际化校园，拥有来自全球的教职工与学生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411480"/>
            <a:ext cx="97533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75B42"/>
                </a:solidFill>
                <a:latin typeface="Arial"/>
              </a:rPr>
              <a:t>港大愿景与使命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169" y="1234440"/>
            <a:ext cx="9753356" cy="68580"/>
          </a:xfrm>
          <a:prstGeom prst="rect">
            <a:avLst/>
          </a:prstGeom>
          <a:solidFill>
            <a:srgbClr val="087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9169" y="1645920"/>
            <a:ext cx="9753356" cy="82296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754" y="1783080"/>
            <a:ext cx="853418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愿景：成为亚洲乃至全球顶尖的研究型大学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169" y="2743200"/>
            <a:ext cx="9753356" cy="82296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754" y="2880360"/>
            <a:ext cx="853418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使命：推动知识创造与传承，培育未来领袖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169" y="3840480"/>
            <a:ext cx="9753356" cy="82296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754" y="3977639"/>
            <a:ext cx="853418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核心价值观：学术自由、创新、卓越、诚信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169" y="4937760"/>
            <a:ext cx="9753356" cy="82296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754" y="5074920"/>
            <a:ext cx="853418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校训：明德格物（Sapientia et Virtus）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2900"/>
            <a:ext cx="10972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75B42"/>
                </a:solidFill>
                <a:latin typeface="Arial"/>
              </a:rPr>
              <a:t>历史沿革与全球排名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" y="1371600"/>
            <a:ext cx="5486262" cy="44577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5" y="1577340"/>
            <a:ext cx="475476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87250"/>
                </a:solidFill>
                <a:latin typeface="Arial"/>
              </a:rPr>
              <a:t>百年名校，见证变迁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81" y="1371600"/>
            <a:ext cx="5242428" cy="445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5432" y="1577340"/>
            <a:ext cx="4510927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87250"/>
                </a:solidFill>
                <a:latin typeface="Arial"/>
              </a:rPr>
              <a:t>全球排名亮点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432" y="2194560"/>
            <a:ext cx="4510927" cy="123444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71183" y="2331720"/>
            <a:ext cx="377942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QS 2025 世界大学排名第17位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432" y="3703320"/>
            <a:ext cx="4510927" cy="123444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1183" y="3840480"/>
            <a:ext cx="3779425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THE 2024 世界大学排名第35位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432" y="5212080"/>
            <a:ext cx="4510927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多学科进入全球前20：牙科、教育、土木工程等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335" y="1234440"/>
            <a:ext cx="10241023" cy="3977639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342900"/>
            <a:ext cx="10972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75B42"/>
                </a:solidFill>
                <a:latin typeface="Arial"/>
              </a:rPr>
              <a:t>学院设置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371600"/>
            <a:ext cx="97533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共有10大学院，涵盖多个学科领域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194560"/>
            <a:ext cx="97533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包括建筑学院、文学院、经济及工商管理学院、教育学院、工程学院、法律学院、医学院、理学院、社会科学学院、牙医学院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3017520"/>
            <a:ext cx="97533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提供本科、硕士及博士课程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840480"/>
            <a:ext cx="97533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跨学科研究平台，促进知识整合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685800"/>
            <a:ext cx="975335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75B42"/>
                </a:solidFill>
                <a:latin typeface="Arial"/>
              </a:rPr>
              <a:t>科研成就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2057400"/>
            <a:ext cx="4267093" cy="13716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05432" y="2057400"/>
            <a:ext cx="4267093" cy="13716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19169" y="3771900"/>
            <a:ext cx="4267093" cy="13716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05432" y="3771900"/>
            <a:ext cx="4267093" cy="1371600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2900"/>
            <a:ext cx="10972525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75B42"/>
                </a:solidFill>
                <a:latin typeface="Arial"/>
              </a:rPr>
              <a:t>校园设施与学生活动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169" y="1714500"/>
            <a:ext cx="9753356" cy="41148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2900"/>
            <a:ext cx="10972525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75B42"/>
                </a:solidFill>
                <a:latin typeface="Arial"/>
              </a:rPr>
              <a:t>国际合作与交流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169" y="1371600"/>
            <a:ext cx="9753356" cy="48006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548640"/>
            <a:ext cx="975335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75B42"/>
                </a:solidFill>
                <a:latin typeface="Arial"/>
              </a:rPr>
              <a:t>毕业生就业与薪酬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6" y="1714500"/>
            <a:ext cx="3047923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087250"/>
                </a:solidFill>
                <a:latin typeface="Arial"/>
              </a:rPr>
              <a:t>99%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6" y="3429000"/>
            <a:ext cx="3047923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就业率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342900"/>
            <a:ext cx="365750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87250"/>
                </a:solidFill>
                <a:latin typeface="Arial"/>
              </a:rPr>
              <a:t>申请指南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822960"/>
            <a:ext cx="975335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75B42"/>
                </a:solidFill>
                <a:latin typeface="Arial"/>
              </a:rPr>
              <a:t>招生政策与申请流程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2057400"/>
            <a:ext cx="9753356" cy="6858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84920" y="219456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87250"/>
                </a:solidFill>
                <a:latin typeface="Arial"/>
              </a:rPr>
              <a:t>本科课程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920" y="240030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通过JUPAS（本地生）及直接申请（非本地生）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169" y="3017520"/>
            <a:ext cx="9753356" cy="6858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4920" y="315468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87250"/>
                </a:solidFill>
                <a:latin typeface="Arial"/>
              </a:rPr>
              <a:t>研究生课程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4920" y="336042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分授课型与研究型，全年接受申请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169" y="3977639"/>
            <a:ext cx="9753356" cy="6858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4920" y="411480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87250"/>
                </a:solidFill>
                <a:latin typeface="Arial"/>
              </a:rPr>
              <a:t>申请材料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4920" y="432054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提交学术成绩、语言成绩（雅思/托福）、推荐信及个人陈述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9169" y="4937760"/>
            <a:ext cx="9753356" cy="68580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4920" y="507492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87250"/>
                </a:solidFill>
                <a:latin typeface="Arial"/>
              </a:rPr>
              <a:t>奖学金计划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4920" y="5280660"/>
            <a:ext cx="902185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丰富，支持优秀学生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548640"/>
            <a:ext cx="975335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75B42"/>
                </a:solidFill>
                <a:latin typeface="Arial"/>
              </a:rPr>
              <a:t>知名校友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371600"/>
            <a:ext cx="975335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D3E32"/>
                </a:solidFill>
                <a:latin typeface="Arial"/>
              </a:rPr>
              <a:t>香港大学培育的各界精英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2057400"/>
            <a:ext cx="4876678" cy="109728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03" y="2194560"/>
            <a:ext cx="438901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孙中山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03" y="2743200"/>
            <a:ext cx="43890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国父 · 香港西医书院首届毕业生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432" y="2057400"/>
            <a:ext cx="4876678" cy="109728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266" y="2194560"/>
            <a:ext cx="438901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张爱玲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266" y="2743200"/>
            <a:ext cx="43890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著名作家 · 曾就读于香港大学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169" y="3429000"/>
            <a:ext cx="4876678" cy="109728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03" y="3566160"/>
            <a:ext cx="438901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李嘉诚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03" y="4114800"/>
            <a:ext cx="43890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长江集团创办人 · 港大名誉博士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5432" y="3429000"/>
            <a:ext cx="4876678" cy="109728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266" y="3566160"/>
            <a:ext cx="438901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何鸿燊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266" y="4114800"/>
            <a:ext cx="43890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澳门赌王 · 港大校董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9169" y="4800600"/>
            <a:ext cx="4876678" cy="109728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03" y="4937760"/>
            <a:ext cx="438901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梁振英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03" y="5486400"/>
            <a:ext cx="43890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前特首 · 港大建筑系毕业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05432" y="4800600"/>
            <a:ext cx="4876678" cy="1097280"/>
          </a:xfrm>
          <a:prstGeom prst="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266" y="4937760"/>
            <a:ext cx="438901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75B42"/>
                </a:solidFill>
                <a:latin typeface="Arial"/>
              </a:rPr>
              <a:t>林郑月娥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266" y="5486400"/>
            <a:ext cx="43890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D3E32"/>
                </a:solidFill>
                <a:latin typeface="Arial"/>
              </a:rPr>
              <a:t>前特首 · 港大社会科学学士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