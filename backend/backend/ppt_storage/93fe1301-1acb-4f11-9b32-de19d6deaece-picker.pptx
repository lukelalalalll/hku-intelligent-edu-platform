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开场先不要急着讲区块链，而是先给听众一个熟悉的坐标系：把互联网三十年拆成三段。</a:t>
            </a:r>
          </a:p>
          <a:p/>
          <a:p>
            <a:r>
              <a:t>1）Web1（约 1990s）：以 Yahoo、新浪这类门户为代表，网站单向发布，用户只能看，所谓「只读」。特征是信息稀缺、入口集中、商业模式是广告曝光。</a:t>
            </a:r>
          </a:p>
          <a:p/>
          <a:p>
            <a:r>
              <a:t>2）Web2（约 2000s 至今）：以博客、社交、短视频平台为代表，用户能写能传，即「可读写」。但要强调一个反直觉的点：你能生产内容，不等于你能拥有内容。账号是租来的，数据存在平台服务器，规则与分成由平台单方面修改，这就是「平台垄断数据与流量」。</a:t>
            </a:r>
          </a:p>
          <a:p/>
          <a:p>
            <a:r>
              <a:t>3）Web3（2010s 起）：在可读写之上补上「可拥有」。钱包地址即身份入口，私钥即控制权，资产与数据记录在公开可验证的账本上，用户可以不依赖平台中介直接持有和转移价值。</a:t>
            </a:r>
          </a:p>
          <a:p/>
          <a:p>
            <a:r>
              <a:t>讲到这里请点出本页最重要的一句话——三次迁移的关键差异不是技术炫技，而是「谁掌握数据与价值分配权」。Web1 是网站掌握，Web2 是平台掌握，Web3 试图把这份权力交还给用户。</a:t>
            </a:r>
          </a:p>
          <a:p/>
          <a:p>
            <a:r>
              <a:t>最后用 20 秒预告全课路线：概念 → 技术 → 应用 → 风险 → 学习路径，避免听众把 Web3 等同于炒币。</a:t>
            </a:r>
          </a:p>
          <a:p/>
          <a:p>
            <a:r>
              <a:t>互动建议：现场提问「你手机里最常用的 App，如果明天封号，你的内容还属于你吗？」用这个问题自然过渡到 Web2 的痛点。</a:t>
            </a:r>
          </a:p>
          <a:p/>
          <a:p>
            <a:r>
              <a:t>时间控制：本页建议 3—4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讲解思路：先用一句话定调——Web3 不是单一技术，而是可以分层拆解的栈式结构。</a:t>
            </a:r>
          </a:p>
          <a:p/>
          <a:p>
            <a:r>
              <a:t>第 1 层（底层）：强调「可信根」概念，区块链网络通过共识机制保证账本不可篡改，以太坊、Solana 是典型代表；这一层决定性能、成本与安全边界。</a:t>
            </a:r>
          </a:p>
          <a:p/>
          <a:p>
            <a:r>
              <a:t>第 2 层（合约层）：智能合约把规则写成代码，条件满足即自动执行，无需第三方担保；可举例说明「规则公开、结果可验证」带来的信任模型变化。</a:t>
            </a:r>
          </a:p>
          <a:p/>
          <a:p>
            <a:r>
              <a:t>第 3 层（资产层）：加密货币是原生资产，FT（同质化代币）适合可互换的价值单位，NFT（非同质化代币）承载唯一性与所有权凭证，这一层是 Web3 经济激励的载体。</a:t>
            </a:r>
          </a:p>
          <a:p/>
          <a:p>
            <a:r>
              <a:t>第 4 层（入口层）：普通用户不直接读链，钱包负责签名与身份，DApp 浏览器负责交互，The Graph 等索引服务负责查询，预言机负责把链外数据喂给合约；四者共同把「链」变成可用的产品。</a:t>
            </a:r>
          </a:p>
          <a:p/>
          <a:p>
            <a:r>
              <a:t>收尾互动：给出一个项目（例如某 NFT 交易平台），让听众用「用哪条链、合约做什么、资产是什么、入口在哪」四问现场拆解，检验理解。</a:t>
            </a:r>
          </a:p>
          <a:p/>
          <a:p>
            <a:r>
              <a:t>时间建议：四层每层约 1 分钟，四问演示约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开场定位（约 30 秒）：承接上一页「Web3 是什么」，本页只解决一个问题——为什么一堆互不认识的节点放在一起，账本反而更可信？</a:t>
            </a:r>
          </a:p>
          <a:p/>
          <a:p>
            <a:r>
              <a:t>讲授主线（约 3 分钟）：</a:t>
            </a:r>
          </a:p>
          <a:p>
            <a:r>
              <a:t>1) 先破除直觉：传统信任靠银行、平台等中心机构背书；区块链把「信任谁」换成「验证什么」——规则公开、数据公开、任何人都能独立校验。</a:t>
            </a:r>
          </a:p>
          <a:p>
            <a:r>
              <a:t>2) 分布式账本：全网节点各存一份完整副本，改一个节点没用，要改就得改大多数节点并让它们接受，成本极高。可以类比「全班每人手里都有一份同样的点名册」。</a:t>
            </a:r>
          </a:p>
          <a:p>
            <a:r>
              <a:t>3) 共识机制：讲清「谁来记账」这一核心矛盾。PoW 用算力竞争出块权，攻击需掌握多数算力；PoS 用质押代币获取出块权，作恶会被罚没（slashing）。两者共同点：让诚实行为有收益、作恶行为有代价。</a:t>
            </a:r>
          </a:p>
          <a:p>
            <a:r>
              <a:t>4) 密码学保障：哈希把区块串成链，改历史区块会导致后续所有哈希对不上；公私钥签名让「只有私钥持有者能授权转账」，实现归属与不可抵赖。</a:t>
            </a:r>
          </a:p>
          <a:p>
            <a:r>
              <a:t>5) 纠偏（重点）：去中心化 ≠ 无治理。协议升级、硬分叉、DAO 投票都是治理过程，只是规则写在链上、执行更透明。同时提醒学生：去中心化是光谱——比特币、以太坊、联盟链、托管钱包分处不同位置，别把它当开关。</a:t>
            </a:r>
          </a:p>
          <a:p/>
          <a:p>
            <a:r>
              <a:t>互动提问：如果攻击者控制了 51% 算力，账本还「可信」吗？引导到「经济成本 + 社区共识 + 分叉反制」的多层防御。</a:t>
            </a:r>
          </a:p>
          <a:p/>
          <a:p>
            <a:r>
              <a:t>过渡语：理解了「账本为什么可信」，下一页我们就能讨论 Web3 上真正跑起来的资产与应用。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讲解主线：从“谁来保证规则被执行”这个问题切入。</a:t>
            </a:r>
          </a:p>
          <a:p/>
          <a:p>
            <a:r>
              <a:t>1）先给定义：智能合约不是法律文件，而是部署在链上的程序，一旦触发条件满足就自动执行，中间不需要银行、平台或中介来确认。</a:t>
            </a:r>
          </a:p>
          <a:p>
            <a:r>
              <a:t>2）再讲结构：合约通常由三部分组成——状态变量（存数据）、函数（写规则）、事件（留日志）。每一次调用本质上是一次全网节点共同验证并达成一致的状态变更，所以结果公开、可追溯、难以篡改。</a:t>
            </a:r>
          </a:p>
          <a:p>
            <a:r>
              <a:t>3）接着落到用户视角：DApp 是“前端交互 + 链上合约后端”。用户不再用账号密码登录，而是用钱包私钥签名来授权交易，身份即地址，资产和数据由自己持有——这就是“自托管”的含义。</a:t>
            </a:r>
          </a:p>
          <a:p>
            <a:r>
              <a:t>4）举场景：去中心化交易所（自动做市、无需托管资产）、借贷协议（超额抵押、利率由算法决定）、链上投票（治理提案公开计票）、供应链溯源（多方写入、共享同一份账本）。可以提醒听众：这些场景的共同点是把“规则执行权”从机构手里交给了代码。</a:t>
            </a:r>
          </a:p>
          <a:p>
            <a:r>
              <a:t>5）最后必须讲风险：代码即法律，有 bug 就是规则本身的 bug，链上交易通常不可回滚。The DAO 事件就是著名案例——合约漏洞被利用，最终导致以太坊社区分裂为 ETH 与 ETC 两条链。所以现实中的 DApp 会引入审计、多签、时间锁、可升级代理等工程手段来对冲风险。</a:t>
            </a:r>
          </a:p>
          <a:p/>
          <a:p>
            <a:r>
              <a:t>过渡语：既然合约能自动执行价值逻辑，那这些能力最终要落到具体场景里——下一页我们看几个正在被真实使用的方向。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，先对比特币的支付实验与数字黄金叙事做简要回顾，然后解释稳定币三类及其信任模型。接着深入代币经济学，强调总量、释放曲线、分配比例、激励与销毁机制是关键设计变量。功能分类上，区分治理、实用与证券型代币，点明合规差异。最后用分析框架收束：任何代币设计都应先回答协调问题，再判断是否需要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开场定位：这一页回答“Web3 能做什么”，DeFi 是最能体现 Web3 原生特性的场景。</a:t>
            </a:r>
          </a:p>
          <a:p/>
          <a:p>
            <a:r>
              <a:t>讲解顺序建议：</a:t>
            </a:r>
          </a:p>
          <a:p>
            <a:r>
              <a:t>1. 先给定义——DeFi 不是把银行搬到网上，而是把“撮合、记账、清算”这三件事交给公开的智能合约。</a:t>
            </a:r>
          </a:p>
          <a:p>
            <a:r>
              <a:t>2. 讲核心组件：DEX（AMM）、借贷协议、稳定币、衍生品，四者构成主要市场。</a:t>
            </a:r>
          </a:p>
          <a:p>
            <a:r>
              <a:t>3. 重点讲 AMM 的创新：传统交易所靠订单簿撮合买卖双方，AMM 用流动性池 + 自动定价公式，任何人都能成为做市方，因此可以 7×24 不间断交易，也不需要许可。</a:t>
            </a:r>
          </a:p>
          <a:p>
            <a:r>
              <a:t>4. 讲可组合性：一个协议的代币可以立刻成为另一个协议的抵押品，这就是“金钱乐高”，也是 DeFi 创新速度快的原因。</a:t>
            </a:r>
          </a:p>
          <a:p>
            <a:r>
              <a:t>5. 强调收益辨析：很多用户只看到 APY，但要追问收益来自哪里——真实手续费与利息，还是代币补贴？补贴通常不可持续。</a:t>
            </a:r>
          </a:p>
          <a:p>
            <a:r>
              <a:t>6. 收尾讲风险，并指出 DeFi 的风险往往是技术风险与金融风险的叠加（如清算螺旋），与传统金融风险性质不同。</a:t>
            </a:r>
          </a:p>
          <a:p/>
          <a:p>
            <a:r>
              <a:t>互动问题：如果你是做市方，价格剧烈波动时你的收益与损失分别来自哪里？（引出无常损失）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开场先破题：把 NFT 从「一张很贵的图片」拉回到「链上的所有权凭证」。第一步讲技术本质：智能合约按 ERC-721（唯一）或 ERC-1155（半同质化）标准发行，每个 Token ID 通过 tokenURI 指向元数据，链上真正记录的是所有权归属、转移历史与可编程规则（如版税），稀缺性由合约逻辑定义，而不由图片本身定义。第二步展开应用光谱：数字艺术与收藏品、游戏道具与虚拟资产、门票与会员凭证、链上身份（域名、灵魂绑定代币 SBT），强调它们共享同一套确权原语，可组合、可迁移。第三步讲价值支撑：社区共识与叙事、创作者版税的可编程分配、可验证来源与流转史带来的信任、以及二级市场流动性。第四步必须讲争议与局限：多数项目的元数据存放在链下——IPFS 或中心化服务器，图片并不必然「上链」，一旦存储层失效或项目方停止维护，链接可能失效；同时存在投机波动、版权与法律确权衔接不足的问题。收尾给出教学落点：评判一个 NFT 项目，先问「上链的到底是什么」，答案通常是所有权与规则，而不是那张图片；NFT 的真正意义是可编程、可组合的所有权凭证。互动提问：如果元数据在链下，NFT 到底「拥有」了什么？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开场定调：前三页讲了 Web3 是什么、怎么运作，这一页要讲它「贵在哪、险在哪」。</a:t>
            </a:r>
          </a:p>
          <a:p/>
          <a:p>
            <a:r>
              <a:t>先讲安全（约 60 秒）：钱包私钥就是资产本身，没有客服、没有找回、没有撤销键。损失主要集中在三类：钓鱼（假网站、假空投、假客服）、授权滥用（approve 无限额度被恶意合约一次性转走）、合约漏洞（重入、预言机操纵、闪电贷攻击）。请强调：绝大多数被盗不是「链被攻破」，而是「人被绕过」，所以安全习惯比安全技术更重要。</a:t>
            </a:r>
          </a:p>
          <a:p/>
          <a:p>
            <a:r>
              <a:t>再讲隐私（约 45 秒）：区块链是账本，不是保险箱。地址不等于身份，但一旦某地址与交易所 KYC、ENS、社媒绑定发生关联，全部历史交易就被曝露。可以提一句：链上分析公司正是靠这一点做追踪的——这既是隐私风险，也是合规工具。</a:t>
            </a:r>
          </a:p>
          <a:p/>
          <a:p>
            <a:r>
              <a:t>然后讲监管（约 45 秒）：同样是代币，有的国家认定是商品，有的认定是证券，有的直接禁止；KYC/AML 要求决定了一个产品能不能做无许可接入、能不能面向零售。合规成本不是抽象名词，它直接决定产品形态与上线地区。</a:t>
            </a:r>
          </a:p>
          <a:p/>
          <a:p>
            <a:r>
              <a:t>治理困境（约 30 秒）：PoS 验证者质押集中、巨鲸投票权重、MEV 的排序权，都会让「去中心化」在事实上打折。这里的教学要点是：去中心化是一个程度问题，不是开关。</a:t>
            </a:r>
          </a:p>
          <a:p/>
          <a:p>
            <a:r>
              <a:t>收尾（约 30 秒）：回到平衡视角——技术本身中立，不安全的是使用方式，不合规的是具体应用。做应用就必须在效率、隐私、合规三角里取舍。这句话直接引出下一页的学习路径：先建立风险地图，再谈工具与技能。</a:t>
            </a:r>
          </a:p>
          <a:p/>
          <a:p>
            <a:r>
              <a:t>可能的提问：「那还能用吗？」答：能用，但要像开车一样——先学交规，再上路。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【开场】承接上一页的技术与生态内容，这一页我们主动泼一点冷水：Web3 不是万能解，它有清晰的边界。</a:t>
            </a:r>
          </a:p>
          <a:p/>
          <a:p>
            <a:r>
              <a:t>【第一层·性能与成本】主链吞吐有限，扩容方案在去中心化程度上做取舍；Gas 费随网络拥堵剧烈波动，使得支付、打赏、链上游戏这类小额高频场景体验不稳定，成本难以预算。可以举例说明高峰期一笔简单转账的成本变化。</a:t>
            </a:r>
          </a:p>
          <a:p/>
          <a:p>
            <a:r>
              <a:t>【第二层·用户体验】助记词管理、跨链桥资产搬运、Gas 概念、钱包授权弹窗，每一步都是认知负担。这些不是「用户不够聪明」，而是产品设计尚未完成向普通人的过渡。</a:t>
            </a:r>
          </a:p>
          <a:p/>
          <a:p>
            <a:r>
              <a:t>【第三层·真实需求缺口】很多项目靠代币补贴拉动数据，补贴一停，用户就走。要区分「使用量」与「激励套利」——前者来自需求，后者来自利差。</a:t>
            </a:r>
          </a:p>
          <a:p/>
          <a:p>
            <a:r>
              <a:t>【第四层·投机与泡沫】估值常由叙事驱动，与现金流、用户价值脱节。这不是否定技术，而是提醒不要把价格当成验证。</a:t>
            </a:r>
          </a:p>
          <a:p/>
          <a:p>
            <a:r>
              <a:t>【收束·判断标准】给出一个可迁移的检验问题：如果明天取消代币激励，这个产品还有人用吗？能通过这一问的项目，才值得长期跟踪。</a:t>
            </a:r>
          </a:p>
          <a:p/>
          <a:p>
            <a:r>
              <a:t>【互动建议】请听众举一个自己用过的 Web3 产品，用这条标准现场检验一次。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这一页是全课的收口，建议大家不要只当知识点复习，而是当成一张行动清单。</a:t>
            </a:r>
          </a:p>
          <a:p/>
          <a:p>
            <a:r>
              <a:t>第一步，先把路径讲清楚：读懂白皮书是「输入」，配置钱包并小额实践是「上手」，用区块浏览器验证交易是「验证」。这三步的顺序很重要——先看别人怎么设计规则，再自己承担私钥责任去走一遍流程，最后用区块浏览器把一笔交易的 tx hash、Gas 消耗、合约调用看清楚，认知才会从「听说」变成「确认」。这里强调小额，是为了把学习成本和风险敞口同时压到最低。</a:t>
            </a:r>
          </a:p>
          <a:p/>
          <a:p>
            <a:r>
              <a:t>第二步，讲知识地图。密码学基础解决「凭什么相信」，共识算法解决「谁说了算、代价是什么」，Solidity 开发解决「怎么把规则写下来」，代币经济解决「人为什么愿意参与」，合规常识解决「边界在哪里」。可以点一下：这五块不是并列的选修课，而是互相咬合的，缺一块就容易做出看起来能跑、实际上有问题的东西。</a:t>
            </a:r>
          </a:p>
          <a:p/>
          <a:p>
            <a:r>
              <a:t>第三步，给资源。测试网水龙头用来零成本试错，OpenZeppelin 这类开源合约库用来避免重复造轮子和低级安全漏洞，开发者文档与社区用来跟上这个领域快速迭代的节奏。</a:t>
            </a:r>
          </a:p>
          <a:p/>
          <a:p>
            <a:r>
              <a:t>第四步，职业方向可以按「写合约、审合约、读链上数据、把产品与合规接起来」四条线展开，提醒听众：Web3 的岗位并不只属于会写代码的人。</a:t>
            </a:r>
          </a:p>
          <a:p/>
          <a:p>
            <a:r>
              <a:t>最后落到那句话总结：Web3 不是单纯的技术升级，而是一次关于所有权与信任如何被重新分配的社会技术实验。可以留一个开放问题给听众——在这个重新分配的过程中，你希望自己站在哪一侧。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83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01" y="411480"/>
            <a:ext cx="10728691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从 Web1 到 Web3：互联网的三次范式迁移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1200150"/>
            <a:ext cx="107286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Arial"/>
              </a:rPr>
              <a:t>概念奠基 · Web3 是什么   |   第一讲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01" y="2194560"/>
            <a:ext cx="3413674" cy="2057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6294" y="236601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475569"/>
                </a:solidFill>
                <a:latin typeface="Arial"/>
              </a:rPr>
              <a:t>Web1 · 1990s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94" y="2811780"/>
            <a:ext cx="280408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rial"/>
              </a:rPr>
              <a:t>只读网络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94" y="3291840"/>
            <a:ext cx="2804089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门户网站单向发布信息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用户是内容消费者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010" y="2194560"/>
            <a:ext cx="3413674" cy="20574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3802" y="236601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Arial"/>
              </a:rPr>
              <a:t>Web2 · 2000s—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3802" y="2811780"/>
            <a:ext cx="280408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Arial"/>
              </a:rPr>
              <a:t>可读写网络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3802" y="3291840"/>
            <a:ext cx="2804089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平台垄断数据与流量</a:t>
            </a:r>
          </a:p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用户以账号形式租用服务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518" y="2194560"/>
            <a:ext cx="3413674" cy="2057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311" y="236601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rial"/>
              </a:rPr>
              <a:t>Web3 · 2010s—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1311" y="2811780"/>
            <a:ext cx="280408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3D91"/>
                </a:solidFill>
                <a:latin typeface="Arial"/>
              </a:rPr>
              <a:t>可读写 + 可拥有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311" y="3291840"/>
            <a:ext cx="2804089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钱包持有身份与资产</a:t>
            </a:r>
          </a:p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用户拥有数据主权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01" y="4594860"/>
            <a:ext cx="97533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294" y="4594860"/>
            <a:ext cx="103629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关键差异不是技术炫技，而是「谁掌握数据与价值分配权」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01" y="5486400"/>
            <a:ext cx="10728691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01" y="576072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课程路线：概念 → 技术 → 应用 → 风险 → 学习路径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01" y="41148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Web3 的核心技术栈：四层结构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062990"/>
            <a:ext cx="107286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8B96B8"/>
                </a:solidFill>
                <a:latin typeface="Arial"/>
              </a:rPr>
              <a:t>任何项目都可以用「链 + 合约 + 资产 + 入口」四问拆解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01" y="1508760"/>
            <a:ext cx="10728691" cy="857250"/>
          </a:xfrm>
          <a:prstGeom prst="rect">
            <a:avLst/>
          </a:prstGeom>
          <a:solidFill>
            <a:srgbClr val="16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52" y="1728216"/>
            <a:ext cx="26821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Arial"/>
              </a:rPr>
              <a:t>01 底层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259" y="1741932"/>
            <a:ext cx="707118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8"/>
                </a:solidFill>
                <a:latin typeface="Arial"/>
              </a:rPr>
              <a:t>以太坊、Solana 等公链提供共识机制与不可篡改账本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01" y="2516886"/>
            <a:ext cx="10728691" cy="857250"/>
          </a:xfrm>
          <a:prstGeom prst="rect">
            <a:avLst/>
          </a:prstGeom>
          <a:solidFill>
            <a:srgbClr val="16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52" y="2736341"/>
            <a:ext cx="26821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Arial"/>
              </a:rPr>
              <a:t>02 合约层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259" y="2750058"/>
            <a:ext cx="707118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8"/>
                </a:solidFill>
                <a:latin typeface="Arial"/>
              </a:rPr>
              <a:t>智能合约用代码定义规则，自动执行、无需中介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01" y="3525012"/>
            <a:ext cx="10728691" cy="857250"/>
          </a:xfrm>
          <a:prstGeom prst="rect">
            <a:avLst/>
          </a:prstGeom>
          <a:solidFill>
            <a:srgbClr val="16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52" y="3744468"/>
            <a:ext cx="26821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Arial"/>
              </a:rPr>
              <a:t>03 资产层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259" y="3758183"/>
            <a:ext cx="707118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8"/>
                </a:solidFill>
                <a:latin typeface="Arial"/>
              </a:rPr>
              <a:t>加密货币与 FT / NFT 代币承载链上价值与所有权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01" y="4533137"/>
            <a:ext cx="10728691" cy="857250"/>
          </a:xfrm>
          <a:prstGeom prst="rect">
            <a:avLst/>
          </a:prstGeom>
          <a:solidFill>
            <a:srgbClr val="16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52" y="4752594"/>
            <a:ext cx="26821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C5CFF"/>
                </a:solidFill>
                <a:latin typeface="Arial"/>
              </a:rPr>
              <a:t>04 入口层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259" y="4766310"/>
            <a:ext cx="7071183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9D2E8"/>
                </a:solidFill>
                <a:latin typeface="Arial"/>
              </a:rPr>
              <a:t>钱包 · DApp 浏览器 · The Graph 索引 · 预言机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01" y="569214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rial"/>
              </a:rPr>
              <a:t>识别要点：先问「用哪条链 · 合约是什么 · 资产是什么 · 入口在哪」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2430"/>
                </a:solidFill>
                <a:latin typeface="Arial"/>
              </a:rPr>
              <a:t>去中心化与信任机制：区块链为何可信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028700"/>
            <a:ext cx="107286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A6472"/>
                </a:solidFill>
                <a:latin typeface="Arial"/>
              </a:rPr>
              <a:t>信任不再来自中心机构，而由分布式账本、共识机制与密码学共同构造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645920"/>
            <a:ext cx="5364345" cy="3840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35" y="1851660"/>
            <a:ext cx="463284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C6FFF"/>
                </a:solidFill>
                <a:latin typeface="Arial"/>
              </a:rPr>
              <a:t>三大技术支柱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331720"/>
            <a:ext cx="4632844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430"/>
                </a:solidFill>
                <a:latin typeface="Arial"/>
              </a:rPr>
              <a:t>分布式账本：全网节点各存一份副本，单点篡改无法生效</a:t>
            </a:r>
          </a:p>
          <a:p>
            <a:pPr algn="l"/>
            <a:r>
              <a:rPr sz="1800" b="0">
                <a:solidFill>
                  <a:srgbClr val="1F2430"/>
                </a:solidFill>
                <a:latin typeface="Arial"/>
              </a:rPr>
              <a:t>共识机制：PoW 靠算力、PoS 靠质押，解决「谁来记账」问题</a:t>
            </a:r>
          </a:p>
          <a:p>
            <a:pPr algn="l"/>
            <a:r>
              <a:rPr sz="1800" b="0">
                <a:solidFill>
                  <a:srgbClr val="1F2430"/>
                </a:solidFill>
                <a:latin typeface="Arial"/>
              </a:rPr>
              <a:t>密码学保障：哈希链式结构保证历史完整，公私钥签名保证归属与授权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764" y="1645920"/>
            <a:ext cx="5364345" cy="38404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515" y="1851660"/>
            <a:ext cx="463284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C6FFF"/>
                </a:solidFill>
                <a:latin typeface="Arial"/>
              </a:rPr>
              <a:t>两个必须澄清的边界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515" y="2331720"/>
            <a:ext cx="4632844" cy="2880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430"/>
                </a:solidFill>
                <a:latin typeface="Arial"/>
              </a:rPr>
              <a:t>去中心化不等于无治理：协议升级、硬分叉与 DAO 投票同样是治理过程，只是规则上链、执行透明</a:t>
            </a:r>
          </a:p>
          <a:p>
            <a:pPr algn="l"/>
            <a:r>
              <a:rPr sz="1800" b="0">
                <a:solidFill>
                  <a:srgbClr val="1F2430"/>
                </a:solidFill>
                <a:latin typeface="Arial"/>
              </a:rPr>
              <a:t>去中心化是程度问题（光谱）：公链、联盟链、托管钱包处在不同位置，不能当成非黑即白的开关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" y="5692140"/>
            <a:ext cx="10972525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35" y="5897880"/>
            <a:ext cx="10241023" cy="4800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430"/>
                </a:solidFill>
                <a:latin typeface="Arial"/>
              </a:rPr>
              <a:t>一句话理解：区块链用「公开可验证的规则 + 让作恶变贵的经济激励」，把信任从机构转移到协议本身。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智能合约与 DApp：可编程的价值逻辑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960120"/>
            <a:ext cx="975335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把「信任中介」换成可验证的代码——条件触发、全网共识、钱包签名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01" y="1405890"/>
            <a:ext cx="1219169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" y="1645920"/>
            <a:ext cx="5608179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94" y="1851660"/>
            <a:ext cx="4876678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rial"/>
              </a:rPr>
              <a:t>智能合约＝部署在链上的自动执行代码，条件满足即触发，无需人工干预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rial"/>
              </a:rPr>
              <a:t>典型结构：状态变量 + 函数 + 事件，执行结果由全网节点共同验证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rial"/>
              </a:rPr>
              <a:t>DApp＝前端交互 + 链上合约后端，用户以钱包签名代替账号密码登录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rial"/>
              </a:rPr>
              <a:t>代表场景：去中心化交易所、借贷协议、链上投票、供应链溯源</a:t>
            </a:r>
          </a:p>
          <a:p>
            <a:pPr algn="l"/>
            <a:r>
              <a:rPr sz="1800" b="0">
                <a:solidFill>
                  <a:srgbClr val="1E293B"/>
                </a:solidFill>
                <a:latin typeface="Arial"/>
              </a:rPr>
              <a:t>风险提示：代码即法律，合约漏洞往往不可回滚（如 The DAO 事件）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515" y="1645920"/>
            <a:ext cx="4876678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266" y="1817370"/>
            <a:ext cx="414517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Arial"/>
              </a:rPr>
              <a:t>① 链上逻辑怎么跑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266" y="2228850"/>
            <a:ext cx="414517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状态变量存数据，函数写规则，事件留日志；一次交易＝一次全网验证的状态变更。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515" y="3223260"/>
            <a:ext cx="4876678" cy="1371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266" y="3394710"/>
            <a:ext cx="414517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47857"/>
                </a:solidFill>
                <a:latin typeface="Arial"/>
              </a:rPr>
              <a:t>② 用户怎么用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266" y="3806190"/>
            <a:ext cx="414517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钱包即身份：私钥签名授权交易，无需注册账号密码，资产与数据自己持有。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515" y="4800600"/>
            <a:ext cx="4876678" cy="13716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266" y="4972050"/>
            <a:ext cx="414517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91C1C"/>
                </a:solidFill>
                <a:latin typeface="Arial"/>
              </a:rPr>
              <a:t>③ 代价与风险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266" y="5383530"/>
            <a:ext cx="4145176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代码即法律：合约部署后难修改，漏洞常不可回滚（The DAO 事件导致分叉）。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91" y="6309360"/>
            <a:ext cx="73150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rial"/>
              </a:rPr>
              <a:t>加密资产与代币经济：价值如何被设计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891540"/>
            <a:ext cx="10728691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生态与应用：Web3 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371600"/>
            <a:ext cx="682734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• 加密货币：比特币作为「数字黄金」的价值存储叙事与支付实验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057400"/>
            <a:ext cx="682734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• 稳定币：法币抵押/加密抵押/算法型三类，锚定价格但信任假设不同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2743200"/>
            <a:ext cx="682734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• 代币经济学（Tokenomics）：总量、释放曲线、分配比例、激励与销毁机制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01" y="3429000"/>
            <a:ext cx="682734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Arial"/>
              </a:rPr>
              <a:t>• 功能分类：治理代币、实用代币、证券型代币，合规属性差异显著</a:t>
            </a:r>
          </a:p>
        </p:txBody>
      </p:sp>
      <p:sp>
        <p:nvSpPr>
          <p:cNvPr id="8" name="Rectangle 7"/>
          <p:cNvSpPr/>
          <p:nvPr/>
        </p:nvSpPr>
        <p:spPr>
          <a:xfrm>
            <a:off x="7802684" y="1234440"/>
            <a:ext cx="3657508" cy="3703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8435" y="1508760"/>
            <a:ext cx="292600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rial"/>
              </a:rPr>
              <a:t>分析框架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435" y="2057400"/>
            <a:ext cx="2926006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先问「代币解决了什么协调问题」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再问「它是否必须有价格」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435" y="3703320"/>
            <a:ext cx="292600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rial"/>
              </a:rPr>
              <a:t>治理代币 / 实用代币 / 证券型代币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DeFi：去中心化金融的重组与创新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062990"/>
            <a:ext cx="10728691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475569"/>
                </a:solidFill>
                <a:latin typeface="Arial"/>
              </a:rPr>
              <a:t>用智能合约与流动性池重构交易、借贷与清算，形成可组合的链上金融体系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01" y="1577340"/>
            <a:ext cx="5120511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294" y="1680210"/>
            <a:ext cx="451092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Arial"/>
              </a:rPr>
              <a:t>核心组件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294" y="2057400"/>
            <a:ext cx="4510927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去中心化交易所（AMM）、借贷协议、稳定币、衍生品，构成链上主要市场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01" y="3257550"/>
            <a:ext cx="5120511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294" y="3360420"/>
            <a:ext cx="451092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Arial"/>
              </a:rPr>
              <a:t>关键创新：自动做市商（AMM）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94" y="3737610"/>
            <a:ext cx="4510927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用流动性池取代订单簿，无需许可即可做市，实现 7×24 小时交易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01" y="4937760"/>
            <a:ext cx="5120511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6294" y="5040630"/>
            <a:ext cx="451092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Arial"/>
              </a:rPr>
              <a:t>可组合性：Money Lego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94" y="5417820"/>
            <a:ext cx="4510927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协议之间可互相调用，像积木一样拼装出新的链上金融产品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681" y="1577340"/>
            <a:ext cx="5120511" cy="2194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4473" y="1680210"/>
            <a:ext cx="451092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Arial"/>
              </a:rPr>
              <a:t>收益来源辨析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73" y="2091690"/>
            <a:ext cx="4510927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交易手续费：做市与撮合的报酬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借贷利息：资金时间价值的体现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流动性挖矿补贴：代币激励，往往不可持续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清算罚金：承担风险敞口的补偿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9681" y="4114800"/>
            <a:ext cx="5120511" cy="2194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73" y="4217670"/>
            <a:ext cx="451092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91C1C"/>
                </a:solidFill>
                <a:latin typeface="Arial"/>
              </a:rPr>
              <a:t>风险对照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73" y="4629150"/>
            <a:ext cx="4510927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智能合约风险：代码漏洞与权限后门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无常损失：做市方在价格波动中的相对亏损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清算螺旋：价格下跌触发连锁强制平仓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跨链桥攻击：资产跨链环节的高危薄弱点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NFT 与数字所有权：从炒作回到确权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028700"/>
            <a:ext cx="107286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  <a:latin typeface="Arial"/>
              </a:rPr>
              <a:t>链上唯一标识符指向元数据，证明稀缺性与流转史 —— 所有权凭证，而非图片本身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01" y="1577340"/>
            <a:ext cx="5120511" cy="150876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9681" y="1577340"/>
            <a:ext cx="5120511" cy="15087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01" y="3223260"/>
            <a:ext cx="5120511" cy="150876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39681" y="3223260"/>
            <a:ext cx="5120511" cy="150876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01" y="4869180"/>
            <a:ext cx="10728691" cy="8229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01" y="5829300"/>
            <a:ext cx="3413674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rial"/>
              </a:rPr>
              <a:t>可编程：版税与规则写进合约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010" y="5829300"/>
            <a:ext cx="3413674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rial"/>
              </a:rPr>
              <a:t>可组合：跨应用复用的资产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518" y="5829300"/>
            <a:ext cx="3413674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rial"/>
              </a:rPr>
              <a:t>可验证：来源与流转史公开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01" y="6515100"/>
            <a:ext cx="107286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生态与应用：Web3 能做什么 · NFT 与数字所有权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0861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Arial"/>
              </a:rPr>
              <a:t>安全、隐私与监管：不可回避的三重张力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028700"/>
            <a:ext cx="109725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技术中立，但应用必须做取舍——先看清风险边界，再谈学习路径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1577340"/>
            <a:ext cx="3413674" cy="294894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010" y="1577340"/>
            <a:ext cx="3413674" cy="29489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435" y="1577340"/>
            <a:ext cx="3413674" cy="29489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77" y="178308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Arial"/>
              </a:rPr>
              <a:t>安全｜私钥即资产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2297430"/>
            <a:ext cx="2804089" cy="21259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私钥丢失不可找回，无客服、无撤销键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钓鱼：假空投、假客服、假官网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授权滥用：无限 approve 被一次性清空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合约漏洞：重入、预言机操纵、闪电贷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绝大多数损失源于「人被绕过」，而非链被攻破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3802" y="178308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4338CA"/>
                </a:solidFill>
                <a:latin typeface="Arial"/>
              </a:rPr>
              <a:t>隐私｜伪匿名 ≠ 匿名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3802" y="2297430"/>
            <a:ext cx="2804089" cy="21259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链上数据公开、永久、可追溯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地址匿名性弱，一旦与 KYC／ENS／社媒绑定即被还原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全部历史交易与余额对所有人可见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链上分析正是利用这一点做追踪与合规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隐私是「可被追踪的程度」问题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3228" y="1783080"/>
            <a:ext cx="2804089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47857"/>
                </a:solidFill>
                <a:latin typeface="Arial"/>
              </a:rPr>
              <a:t>监管｜规则碎片化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228" y="2297430"/>
            <a:ext cx="2804089" cy="21259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同一代币：有的认定商品、有的认定证券、有的直接禁止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KYC／AML 决定能否无许可接入、能否面向零售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合规成本直接改写产品形态与上线地区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不同司法辖区要求不一致，跨境产品尤其被动</a:t>
            </a:r>
          </a:p>
          <a:p>
            <a:pPr algn="l"/>
          </a:p>
          <a:p>
            <a:pPr algn="l"/>
            <a:r>
              <a:rPr sz="1800" b="0">
                <a:solidFill>
                  <a:srgbClr val="1F2937"/>
                </a:solidFill>
                <a:latin typeface="Arial"/>
              </a:rPr>
              <a:t>· 合规不是法务问题，而是产品约束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" y="4800600"/>
            <a:ext cx="5242428" cy="15087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681" y="4800600"/>
            <a:ext cx="5242428" cy="1508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77" y="4972050"/>
            <a:ext cx="463284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rial"/>
              </a:rPr>
              <a:t>治理困境：权力的事实集中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5417820"/>
            <a:ext cx="4632844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巨鲸持仓左右投票权重；验证者质押向头部服务商集中；MEV 让区块排序权可变现。去中心化是程度问题，不是开关。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473" y="4972050"/>
            <a:ext cx="463284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rial"/>
              </a:rPr>
              <a:t>平衡视角：技术中立，应用取舍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73" y="5417820"/>
            <a:ext cx="4632844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Arial"/>
              </a:rPr>
              <a:t>不安全的是使用方式，不合规的是具体应用。做应用就要在效率、隐私与合规之间取舍——这正是后续学习路径要建立的判断力。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7315017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Arial"/>
              </a:rPr>
              <a:t>挑战、边界与学习路径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72009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Web3 的局限与理性批判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01" y="1495044"/>
            <a:ext cx="10728691" cy="240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" y="1748790"/>
            <a:ext cx="5120511" cy="9258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" y="1748790"/>
            <a:ext cx="85341" cy="9258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6294" y="1851660"/>
            <a:ext cx="4510927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性能与成本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94" y="2194560"/>
            <a:ext cx="4571885" cy="4457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主链吞吐有限，Gas 费波动直接影响小额高频场景的可用性。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01" y="2846070"/>
            <a:ext cx="5120511" cy="9258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01" y="2846070"/>
            <a:ext cx="85341" cy="9258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6294" y="2948940"/>
            <a:ext cx="4510927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用户体验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94" y="3291840"/>
            <a:ext cx="4571885" cy="4457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助记词、跨链桥、Gas 等概念抬高普通用户的理解与操作门槛。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01" y="3943349"/>
            <a:ext cx="5120511" cy="9258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01" y="3943349"/>
            <a:ext cx="85341" cy="9258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294" y="4046220"/>
            <a:ext cx="4510927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真实需求缺口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94" y="4389120"/>
            <a:ext cx="4571885" cy="4457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大量项目依赖代币补贴获客，缺乏可持续的现金流支撑。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01" y="5040630"/>
            <a:ext cx="5120511" cy="92583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01" y="5040630"/>
            <a:ext cx="85341" cy="92583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294" y="5143500"/>
            <a:ext cx="4510927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Arial"/>
              </a:rPr>
              <a:t>投机与泡沫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94" y="5486400"/>
            <a:ext cx="4571885" cy="4457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Arial"/>
              </a:rPr>
              <a:t>叙事驱动定价，估值与基本面脱节的现象普遍存在。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1598" y="1748790"/>
            <a:ext cx="4998594" cy="421767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7349" y="2057400"/>
            <a:ext cx="426709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Arial"/>
              </a:rPr>
              <a:t>判断标准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49" y="2503170"/>
            <a:ext cx="4267093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rial"/>
              </a:rPr>
              <a:t>去掉代币激励后，用户是否仍会持续使用？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7349" y="3771900"/>
            <a:ext cx="4267093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rial"/>
              </a:rPr>
              <a:t>真实用户留存，而非钱包地址数量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Arial"/>
              </a:rPr>
              <a:t>收入来自使用，而非代币发行</a:t>
            </a:r>
          </a:p>
          <a:p>
            <a:pPr algn="l"/>
            <a:r>
              <a:rPr sz="1800" b="0">
                <a:solidFill>
                  <a:srgbClr val="CBD5E1"/>
                </a:solidFill>
                <a:latin typeface="Arial"/>
              </a:rPr>
              <a:t>激励退坡后，活跃度不崩塌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411480"/>
            <a:ext cx="10728691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B1220"/>
                </a:solidFill>
                <a:latin typeface="Arial"/>
              </a:rPr>
              <a:t>学习路径与课程总结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01" y="1028700"/>
            <a:ext cx="975335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Arial"/>
              </a:rPr>
              <a:t>从读懂白皮书到链上验证：一条可以今天就开始的 Web3 入门路径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01" y="1577340"/>
            <a:ext cx="5242428" cy="2606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01" y="4389120"/>
            <a:ext cx="5242428" cy="10287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764" y="1577340"/>
            <a:ext cx="5242428" cy="24688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764" y="4251960"/>
            <a:ext cx="5242428" cy="11658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01" y="5692140"/>
            <a:ext cx="10728691" cy="82296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