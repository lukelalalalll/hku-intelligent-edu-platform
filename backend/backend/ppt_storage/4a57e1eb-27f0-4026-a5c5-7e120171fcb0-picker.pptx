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this introduction to City University of Hong Kong. As a leading public research university founded in 1984, CityU has established itself as a dynamic hub for education and research in Asia. Located in Kowloon Tong, the campus offers a vibrant environment that fosters innovation and collaboration. In this presentation, we will explore key aspects of CityU's identity and achievements.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Today we will discuss CityU's academic excellence. This slide provides an overview of our programs and research. CityU offers more than 100 undergraduate and postgraduate programs across 10 colleges, ensuring students have a wealth of choices. The university is particularly recognized for its strengths in engineering, business, creative media, and law, with curricula designed to be cutting-edge and industry-relevant. Furthermore, our research output is consistently ranked among the top universities in Asia and worldwide, reflecting our commitment to innovation and interdisciplinary collaboration. Let's proceed to the next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about the state-of-the-art facilities that support learning and research. Highlight the wide range of societies that cater to different interests, fostering community and leadership. Emphasize the university's strong global connections that provide students with valuable international experience.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CityU! Let me walk you through the admissions process. First, we look for academic excellence and English proficiency. Remember to apply through our online portal before the winter or summer deadline. And don't worry, we have scholarships for outstanding students.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future. CityU is dedicated to cultivating leaders with a global perspective and professional competence. Our alumni network is strong and wide-reaching, opening doors across industries. And our strategic roadmap focuses on innovation, sustainability, and making a positive impact on society.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2438339" y="1028700"/>
            <a:ext cx="7315017" cy="1028700"/>
          </a:xfrm>
          <a:prstGeom prst="rect">
            <a:avLst/>
          </a:prstGeom>
          <a:noFill/>
          <a:ln>
            <a:noFill/>
          </a:ln>
        </p:spPr>
        <p:txBody>
          <a:bodyPr wrap="square" lIns="0" rIns="0" tIns="0" bIns="0">
            <a:spAutoFit/>
          </a:bodyPr>
          <a:lstStyle/>
          <a:p>
            <a:pPr algn="l"/>
            <a:r>
              <a:rPr sz="4000" b="1">
                <a:solidFill>
                  <a:srgbClr val="17324D"/>
                </a:solidFill>
                <a:latin typeface="Arial"/>
              </a:rPr>
              <a:t>City University of Hong Kong</a:t>
            </a:r>
          </a:p>
        </p:txBody>
      </p:sp>
      <p:sp>
        <p:nvSpPr>
          <p:cNvPr id="3" name="TextBox 2"/>
          <p:cNvSpPr txBox="1"/>
          <p:nvPr/>
        </p:nvSpPr>
        <p:spPr>
          <a:xfrm>
            <a:off x="2438339" y="2057400"/>
            <a:ext cx="7315017" cy="685800"/>
          </a:xfrm>
          <a:prstGeom prst="rect">
            <a:avLst/>
          </a:prstGeom>
          <a:noFill/>
          <a:ln>
            <a:noFill/>
          </a:ln>
        </p:spPr>
        <p:txBody>
          <a:bodyPr wrap="square" lIns="0" rIns="0" tIns="0" bIns="0">
            <a:spAutoFit/>
          </a:bodyPr>
          <a:lstStyle/>
          <a:p>
            <a:pPr algn="l"/>
            <a:r>
              <a:rPr sz="2400" b="0">
                <a:solidFill>
                  <a:srgbClr val="486581"/>
                </a:solidFill>
                <a:latin typeface="Arial"/>
              </a:rPr>
              <a:t>Introduction</a:t>
            </a:r>
          </a:p>
        </p:txBody>
      </p:sp>
      <p:sp>
        <p:nvSpPr>
          <p:cNvPr id="4" name="TextBox 3"/>
          <p:cNvSpPr txBox="1"/>
          <p:nvPr/>
        </p:nvSpPr>
        <p:spPr>
          <a:xfrm>
            <a:off x="1828754" y="3429000"/>
            <a:ext cx="8534186" cy="2057400"/>
          </a:xfrm>
          <a:prstGeom prst="rect">
            <a:avLst/>
          </a:prstGeom>
          <a:noFill/>
          <a:ln>
            <a:noFill/>
          </a:ln>
        </p:spPr>
        <p:txBody>
          <a:bodyPr wrap="square" lIns="0" rIns="0" tIns="0" bIns="0">
            <a:spAutoFit/>
          </a:bodyPr>
          <a:lstStyle/>
          <a:p>
            <a:pPr algn="l"/>
            <a:r>
              <a:rPr sz="2000" b="0">
                <a:solidFill>
                  <a:srgbClr val="486581"/>
                </a:solidFill>
                <a:latin typeface="Arial"/>
              </a:rPr>
              <a:t>City University of Hong Kong (CityU) is a leading public research university in Hong Kong.</a:t>
            </a:r>
          </a:p>
          <a:p>
            <a:pPr algn="l"/>
            <a:r>
              <a:rPr sz="2000" b="0">
                <a:solidFill>
                  <a:srgbClr val="486581"/>
                </a:solidFill>
                <a:latin typeface="Arial"/>
              </a:rPr>
              <a:t>Founded in 1984, it has grown rapidly into a global hub for education and research.</a:t>
            </a:r>
          </a:p>
          <a:p>
            <a:pPr algn="l"/>
            <a:r>
              <a:rPr sz="2000" b="0">
                <a:solidFill>
                  <a:srgbClr val="486581"/>
                </a:solidFill>
                <a:latin typeface="Arial"/>
              </a:rPr>
              <a:t>Located in Kowloon Tong, it offers a vibrant and dynamic campus environment.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75335" y="548640"/>
            <a:ext cx="10241023" cy="685800"/>
          </a:xfrm>
          <a:prstGeom prst="rect">
            <a:avLst/>
          </a:prstGeom>
          <a:noFill/>
          <a:ln>
            <a:noFill/>
          </a:ln>
        </p:spPr>
        <p:txBody>
          <a:bodyPr wrap="square" lIns="0" rIns="0" tIns="0" bIns="0">
            <a:spAutoFit/>
          </a:bodyPr>
          <a:lstStyle/>
          <a:p>
            <a:pPr algn="l"/>
            <a:r>
              <a:rPr sz="3600" b="1">
                <a:solidFill>
                  <a:srgbClr val="17324D"/>
                </a:solidFill>
                <a:latin typeface="Arial"/>
              </a:rPr>
              <a:t>Programs and Research</a:t>
            </a:r>
          </a:p>
        </p:txBody>
      </p:sp>
      <p:sp>
        <p:nvSpPr>
          <p:cNvPr id="4" name="Rectangle 3"/>
          <p:cNvSpPr/>
          <p:nvPr/>
        </p:nvSpPr>
        <p:spPr>
          <a:xfrm>
            <a:off x="975335" y="1371600"/>
            <a:ext cx="2438339" cy="3429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75335" y="1714500"/>
            <a:ext cx="10241023" cy="44577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03" y="2057400"/>
            <a:ext cx="9265688" cy="685800"/>
          </a:xfrm>
          <a:prstGeom prst="rect">
            <a:avLst/>
          </a:prstGeom>
          <a:noFill/>
          <a:ln>
            <a:noFill/>
          </a:ln>
        </p:spPr>
        <p:txBody>
          <a:bodyPr wrap="square" lIns="0" rIns="0" tIns="0" bIns="0">
            <a:spAutoFit/>
          </a:bodyPr>
          <a:lstStyle/>
          <a:p>
            <a:pPr algn="l"/>
            <a:r>
              <a:rPr sz="2000" b="0">
                <a:solidFill>
                  <a:srgbClr val="486581"/>
                </a:solidFill>
                <a:latin typeface="Arial"/>
              </a:rPr>
              <a:t>• Offers over 100 undergraduate and postgraduate programs across 10 colleges, catering to diverse academic interests.</a:t>
            </a:r>
          </a:p>
        </p:txBody>
      </p:sp>
      <p:sp>
        <p:nvSpPr>
          <p:cNvPr id="7" name="TextBox 6"/>
          <p:cNvSpPr txBox="1"/>
          <p:nvPr/>
        </p:nvSpPr>
        <p:spPr>
          <a:xfrm>
            <a:off x="1463003" y="3086100"/>
            <a:ext cx="9265688" cy="685800"/>
          </a:xfrm>
          <a:prstGeom prst="rect">
            <a:avLst/>
          </a:prstGeom>
          <a:noFill/>
          <a:ln>
            <a:noFill/>
          </a:ln>
        </p:spPr>
        <p:txBody>
          <a:bodyPr wrap="square" lIns="0" rIns="0" tIns="0" bIns="0">
            <a:spAutoFit/>
          </a:bodyPr>
          <a:lstStyle/>
          <a:p>
            <a:pPr algn="l"/>
            <a:r>
              <a:rPr sz="2000" b="0">
                <a:solidFill>
                  <a:srgbClr val="486581"/>
                </a:solidFill>
                <a:latin typeface="Arial"/>
              </a:rPr>
              <a:t>• Known for strengths in engineering, business, creative media, and law, with cutting-edge curricula.</a:t>
            </a:r>
          </a:p>
        </p:txBody>
      </p:sp>
      <p:sp>
        <p:nvSpPr>
          <p:cNvPr id="8" name="TextBox 7"/>
          <p:cNvSpPr txBox="1"/>
          <p:nvPr/>
        </p:nvSpPr>
        <p:spPr>
          <a:xfrm>
            <a:off x="1463003" y="4114800"/>
            <a:ext cx="9265688" cy="685800"/>
          </a:xfrm>
          <a:prstGeom prst="rect">
            <a:avLst/>
          </a:prstGeom>
          <a:noFill/>
          <a:ln>
            <a:noFill/>
          </a:ln>
        </p:spPr>
        <p:txBody>
          <a:bodyPr wrap="square" lIns="0" rIns="0" tIns="0" bIns="0">
            <a:spAutoFit/>
          </a:bodyPr>
          <a:lstStyle/>
          <a:p>
            <a:pPr algn="l"/>
            <a:r>
              <a:rPr sz="2000" b="0">
                <a:solidFill>
                  <a:srgbClr val="486581"/>
                </a:solidFill>
                <a:latin typeface="Arial"/>
              </a:rPr>
              <a:t>• Research output ranked among top universities in Asia and worldwide, driven by innovation and collaboration.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1219169" y="685800"/>
            <a:ext cx="9753356" cy="822960"/>
          </a:xfrm>
          <a:prstGeom prst="rect">
            <a:avLst/>
          </a:prstGeom>
          <a:noFill/>
          <a:ln>
            <a:noFill/>
          </a:ln>
        </p:spPr>
        <p:txBody>
          <a:bodyPr wrap="square" lIns="0" rIns="0" tIns="0" bIns="0">
            <a:spAutoFit/>
          </a:bodyPr>
          <a:lstStyle/>
          <a:p>
            <a:pPr algn="l"/>
            <a:r>
              <a:rPr sz="4000" b="1">
                <a:solidFill>
                  <a:srgbClr val="17324D"/>
                </a:solidFill>
                <a:latin typeface="Arial"/>
              </a:rPr>
              <a:t>Student Experience</a:t>
            </a:r>
          </a:p>
        </p:txBody>
      </p:sp>
      <p:sp>
        <p:nvSpPr>
          <p:cNvPr id="3" name="TextBox 2"/>
          <p:cNvSpPr txBox="1"/>
          <p:nvPr/>
        </p:nvSpPr>
        <p:spPr>
          <a:xfrm>
            <a:off x="1219169" y="274320"/>
            <a:ext cx="9753356" cy="411480"/>
          </a:xfrm>
          <a:prstGeom prst="rect">
            <a:avLst/>
          </a:prstGeom>
          <a:noFill/>
          <a:ln>
            <a:noFill/>
          </a:ln>
        </p:spPr>
        <p:txBody>
          <a:bodyPr wrap="square" lIns="0" rIns="0" tIns="0" bIns="0">
            <a:spAutoFit/>
          </a:bodyPr>
          <a:lstStyle/>
          <a:p>
            <a:pPr algn="l"/>
            <a:r>
              <a:rPr sz="2000" b="0">
                <a:solidFill>
                  <a:srgbClr val="2F80ED"/>
                </a:solidFill>
                <a:latin typeface="Arial"/>
              </a:rPr>
              <a:t>Campus Life</a:t>
            </a:r>
          </a:p>
        </p:txBody>
      </p:sp>
      <p:sp>
        <p:nvSpPr>
          <p:cNvPr id="4" name="Rectangle 3"/>
          <p:cNvSpPr/>
          <p:nvPr/>
        </p:nvSpPr>
        <p:spPr>
          <a:xfrm>
            <a:off x="1219169" y="1508760"/>
            <a:ext cx="3657508" cy="13716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19169" y="2057400"/>
            <a:ext cx="9753356" cy="3429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1219169" y="685800"/>
            <a:ext cx="9753356" cy="1028700"/>
          </a:xfrm>
          <a:prstGeom prst="rect">
            <a:avLst/>
          </a:prstGeom>
          <a:noFill/>
          <a:ln>
            <a:noFill/>
          </a:ln>
        </p:spPr>
        <p:txBody>
          <a:bodyPr wrap="square" lIns="0" rIns="0" tIns="0" bIns="0">
            <a:spAutoFit/>
          </a:bodyPr>
          <a:lstStyle/>
          <a:p>
            <a:pPr algn="l"/>
            <a:r>
              <a:rPr sz="4000" b="1">
                <a:solidFill>
                  <a:srgbClr val="17324D"/>
                </a:solidFill>
                <a:latin typeface="Arial"/>
              </a:rPr>
              <a:t>Applying to CityU</a:t>
            </a:r>
          </a:p>
        </p:txBody>
      </p:sp>
      <p:sp>
        <p:nvSpPr>
          <p:cNvPr id="3" name="Rectangle 2"/>
          <p:cNvSpPr/>
          <p:nvPr/>
        </p:nvSpPr>
        <p:spPr>
          <a:xfrm>
            <a:off x="1219169" y="2057400"/>
            <a:ext cx="9753356" cy="2743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1219169" y="548640"/>
            <a:ext cx="9753356" cy="822960"/>
          </a:xfrm>
          <a:prstGeom prst="rect">
            <a:avLst/>
          </a:prstGeom>
          <a:noFill/>
          <a:ln>
            <a:noFill/>
          </a:ln>
        </p:spPr>
        <p:txBody>
          <a:bodyPr wrap="square" lIns="0" rIns="0" tIns="0" bIns="0">
            <a:spAutoFit/>
          </a:bodyPr>
          <a:lstStyle/>
          <a:p>
            <a:pPr algn="l"/>
            <a:r>
              <a:rPr sz="3600" b="1">
                <a:solidFill>
                  <a:srgbClr val="17324D"/>
                </a:solidFill>
                <a:latin typeface="Arial"/>
              </a:rPr>
              <a:t>Vision and Career</a:t>
            </a:r>
          </a:p>
        </p:txBody>
      </p:sp>
      <p:sp>
        <p:nvSpPr>
          <p:cNvPr id="3" name="Rectangle 2"/>
          <p:cNvSpPr/>
          <p:nvPr/>
        </p:nvSpPr>
        <p:spPr>
          <a:xfrm>
            <a:off x="1219169" y="1920240"/>
            <a:ext cx="9753356" cy="4114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754" y="2194560"/>
            <a:ext cx="8534186" cy="3429000"/>
          </a:xfrm>
          <a:prstGeom prst="rect">
            <a:avLst/>
          </a:prstGeom>
          <a:noFill/>
          <a:ln>
            <a:noFill/>
          </a:ln>
        </p:spPr>
        <p:txBody>
          <a:bodyPr wrap="square" lIns="0" rIns="0" tIns="0" bIns="0">
            <a:spAutoFit/>
          </a:bodyPr>
          <a:lstStyle/>
          <a:p>
            <a:pPr algn="l"/>
            <a:r>
              <a:rPr sz="2000" b="0">
                <a:solidFill>
                  <a:srgbClr val="486581"/>
                </a:solidFill>
                <a:latin typeface="Arial"/>
              </a:rPr>
              <a:t>• Committed to nurturing future leaders with global vision and professional excellence.</a:t>
            </a:r>
          </a:p>
          <a:p>
            <a:pPr algn="l"/>
            <a:r>
              <a:rPr sz="2000" b="0">
                <a:solidFill>
                  <a:srgbClr val="486581"/>
                </a:solidFill>
                <a:latin typeface="Arial"/>
              </a:rPr>
              <a:t>• Strong alumni network across industries in Hong Kong and beyond.</a:t>
            </a:r>
          </a:p>
          <a:p>
            <a:pPr algn="l"/>
            <a:r>
              <a:rPr sz="2000" b="0">
                <a:solidFill>
                  <a:srgbClr val="486581"/>
                </a:solidFill>
                <a:latin typeface="Arial"/>
              </a:rPr>
              <a:t>• Strategic plan focuses on innovation, sustainability, and societal impact.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